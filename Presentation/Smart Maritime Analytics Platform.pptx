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0" r:id="rId7"/>
    <p:sldId id="261"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E4A"/>
    <a:srgbClr val="065A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7578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A"/>
        </a:solidFill>
        <a:effectLst/>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065A82">
              <a:alpha val="45000"/>
            </a:srgbClr>
          </a:solidFill>
          <a:ln/>
        </p:spPr>
        <p:txBody>
          <a:bodyPr/>
          <a:lstStyle/>
          <a:p>
            <a:endParaRPr lang="en-US"/>
          </a:p>
        </p:txBody>
      </p:sp>
      <p:sp>
        <p:nvSpPr>
          <p:cNvPr id="3" name="Shape 1"/>
          <p:cNvSpPr/>
          <p:nvPr/>
        </p:nvSpPr>
        <p:spPr>
          <a:xfrm>
            <a:off x="0" y="5852160"/>
            <a:ext cx="12188952" cy="1005840"/>
          </a:xfrm>
          <a:prstGeom prst="rect">
            <a:avLst/>
          </a:prstGeom>
          <a:solidFill>
            <a:srgbClr val="1C7293">
              <a:alpha val="60000"/>
            </a:srgbClr>
          </a:solidFill>
          <a:ln/>
        </p:spPr>
        <p:txBody>
          <a:bodyPr/>
          <a:lstStyle/>
          <a:p>
            <a:endParaRPr lang="en-US"/>
          </a:p>
        </p:txBody>
      </p:sp>
      <p:sp>
        <p:nvSpPr>
          <p:cNvPr id="4" name="Text 2"/>
          <p:cNvSpPr txBox="1"/>
          <p:nvPr/>
        </p:nvSpPr>
        <p:spPr>
          <a:xfrm>
            <a:off x="822960" y="1463040"/>
            <a:ext cx="9144000" cy="36576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GRADUATION PROJECT · BIG DATA</a:t>
            </a:r>
            <a:endParaRPr lang="en-US" sz="1300" dirty="0"/>
          </a:p>
        </p:txBody>
      </p:sp>
      <p:sp>
        <p:nvSpPr>
          <p:cNvPr id="5" name="Text 3"/>
          <p:cNvSpPr txBox="1"/>
          <p:nvPr/>
        </p:nvSpPr>
        <p:spPr>
          <a:xfrm>
            <a:off x="822960" y="1920240"/>
            <a:ext cx="8686800" cy="182880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An End-to-End System for</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Real-Time Ship Tracking &amp; AI Analytics</a:t>
            </a:r>
            <a:endParaRPr lang="en-US" sz="3400" dirty="0"/>
          </a:p>
        </p:txBody>
      </p:sp>
      <p:sp>
        <p:nvSpPr>
          <p:cNvPr id="6" name="Text 4"/>
          <p:cNvSpPr txBox="1"/>
          <p:nvPr/>
        </p:nvSpPr>
        <p:spPr>
          <a:xfrm>
            <a:off x="822960" y="3794760"/>
            <a:ext cx="8778240" cy="822960"/>
          </a:xfrm>
          <a:prstGeom prst="rect">
            <a:avLst/>
          </a:prstGeom>
          <a:noFill/>
          <a:ln/>
        </p:spPr>
        <p:txBody>
          <a:bodyPr wrap="square" lIns="0" tIns="0" rIns="0" bIns="0" rtlCol="0" anchor="ctr"/>
          <a:lstStyle/>
          <a:p>
            <a:pPr marL="0" indent="0">
              <a:lnSpc>
                <a:spcPct val="120000"/>
              </a:lnSpc>
              <a:buNone/>
            </a:pPr>
            <a:r>
              <a:rPr lang="en-US" sz="1500" dirty="0">
                <a:solidFill>
                  <a:srgbClr val="CFE8F0"/>
                </a:solidFill>
                <a:latin typeface="Calibri" pitchFamily="34" charset="0"/>
                <a:ea typeface="Calibri" pitchFamily="34" charset="-122"/>
                <a:cs typeface="Calibri" pitchFamily="34" charset="-120"/>
              </a:rPr>
              <a:t>Turning millions of daily ship radio signals into live fleet maps, safety alerts, and AI-driven insight — built on a Big Data pipeline that is both fast and accurate.</a:t>
            </a:r>
            <a:endParaRPr lang="en-US" sz="1500" dirty="0"/>
          </a:p>
        </p:txBody>
      </p:sp>
      <p:sp>
        <p:nvSpPr>
          <p:cNvPr id="7" name="Shape 5"/>
          <p:cNvSpPr/>
          <p:nvPr/>
        </p:nvSpPr>
        <p:spPr>
          <a:xfrm>
            <a:off x="9738360" y="1600200"/>
            <a:ext cx="1417320" cy="457200"/>
          </a:xfrm>
          <a:prstGeom prst="roundRect">
            <a:avLst>
              <a:gd name="adj" fmla="val 16000"/>
            </a:avLst>
          </a:prstGeom>
          <a:solidFill>
            <a:srgbClr val="FFFFFF">
              <a:alpha val="12000"/>
            </a:srgbClr>
          </a:solidFill>
          <a:ln w="12700">
            <a:solidFill>
              <a:srgbClr val="FFFFFF"/>
            </a:solidFill>
            <a:prstDash val="solid"/>
          </a:ln>
        </p:spPr>
        <p:txBody>
          <a:bodyPr/>
          <a:lstStyle/>
          <a:p>
            <a:endParaRPr lang="en-US"/>
          </a:p>
        </p:txBody>
      </p:sp>
      <p:sp>
        <p:nvSpPr>
          <p:cNvPr id="8" name="Text 6"/>
          <p:cNvSpPr txBox="1"/>
          <p:nvPr/>
        </p:nvSpPr>
        <p:spPr>
          <a:xfrm>
            <a:off x="9738360" y="1600200"/>
            <a:ext cx="1417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Ingest</a:t>
            </a:r>
            <a:endParaRPr lang="en-US" sz="1200" dirty="0"/>
          </a:p>
        </p:txBody>
      </p:sp>
      <p:sp>
        <p:nvSpPr>
          <p:cNvPr id="9" name="Shape 7"/>
          <p:cNvSpPr/>
          <p:nvPr/>
        </p:nvSpPr>
        <p:spPr>
          <a:xfrm>
            <a:off x="9738360" y="2185416"/>
            <a:ext cx="1417320" cy="457200"/>
          </a:xfrm>
          <a:prstGeom prst="roundRect">
            <a:avLst>
              <a:gd name="adj" fmla="val 16000"/>
            </a:avLst>
          </a:prstGeom>
          <a:solidFill>
            <a:srgbClr val="FFFFFF">
              <a:alpha val="12000"/>
            </a:srgbClr>
          </a:solidFill>
          <a:ln w="12700">
            <a:solidFill>
              <a:srgbClr val="FFFFFF"/>
            </a:solidFill>
            <a:prstDash val="solid"/>
          </a:ln>
        </p:spPr>
        <p:txBody>
          <a:bodyPr/>
          <a:lstStyle/>
          <a:p>
            <a:endParaRPr lang="en-US"/>
          </a:p>
        </p:txBody>
      </p:sp>
      <p:sp>
        <p:nvSpPr>
          <p:cNvPr id="10" name="Text 8"/>
          <p:cNvSpPr txBox="1"/>
          <p:nvPr/>
        </p:nvSpPr>
        <p:spPr>
          <a:xfrm>
            <a:off x="9738360" y="2185416"/>
            <a:ext cx="1417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Stream</a:t>
            </a:r>
            <a:endParaRPr lang="en-US" sz="1200" dirty="0"/>
          </a:p>
        </p:txBody>
      </p:sp>
      <p:sp>
        <p:nvSpPr>
          <p:cNvPr id="11" name="Shape 9"/>
          <p:cNvSpPr/>
          <p:nvPr/>
        </p:nvSpPr>
        <p:spPr>
          <a:xfrm>
            <a:off x="9738360" y="2770632"/>
            <a:ext cx="1417320" cy="457200"/>
          </a:xfrm>
          <a:prstGeom prst="roundRect">
            <a:avLst>
              <a:gd name="adj" fmla="val 16000"/>
            </a:avLst>
          </a:prstGeom>
          <a:solidFill>
            <a:srgbClr val="FFFFFF">
              <a:alpha val="12000"/>
            </a:srgbClr>
          </a:solidFill>
          <a:ln w="12700">
            <a:solidFill>
              <a:srgbClr val="FFFFFF"/>
            </a:solidFill>
            <a:prstDash val="solid"/>
          </a:ln>
        </p:spPr>
        <p:txBody>
          <a:bodyPr/>
          <a:lstStyle/>
          <a:p>
            <a:endParaRPr lang="en-US"/>
          </a:p>
        </p:txBody>
      </p:sp>
      <p:sp>
        <p:nvSpPr>
          <p:cNvPr id="12" name="Text 10"/>
          <p:cNvSpPr txBox="1"/>
          <p:nvPr/>
        </p:nvSpPr>
        <p:spPr>
          <a:xfrm>
            <a:off x="9738360" y="2770632"/>
            <a:ext cx="1417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Store</a:t>
            </a:r>
            <a:endParaRPr lang="en-US" sz="1200" dirty="0"/>
          </a:p>
        </p:txBody>
      </p:sp>
      <p:sp>
        <p:nvSpPr>
          <p:cNvPr id="13" name="Shape 11"/>
          <p:cNvSpPr/>
          <p:nvPr/>
        </p:nvSpPr>
        <p:spPr>
          <a:xfrm>
            <a:off x="9738360" y="3355848"/>
            <a:ext cx="1417320" cy="457200"/>
          </a:xfrm>
          <a:prstGeom prst="roundRect">
            <a:avLst>
              <a:gd name="adj" fmla="val 16000"/>
            </a:avLst>
          </a:prstGeom>
          <a:solidFill>
            <a:srgbClr val="F2A93B"/>
          </a:solidFill>
          <a:ln w="12700">
            <a:solidFill>
              <a:srgbClr val="FFFFFF"/>
            </a:solidFill>
            <a:prstDash val="solid"/>
          </a:ln>
        </p:spPr>
        <p:txBody>
          <a:bodyPr/>
          <a:lstStyle/>
          <a:p>
            <a:endParaRPr lang="en-US"/>
          </a:p>
        </p:txBody>
      </p:sp>
      <p:sp>
        <p:nvSpPr>
          <p:cNvPr id="14" name="Text 12"/>
          <p:cNvSpPr txBox="1"/>
          <p:nvPr/>
        </p:nvSpPr>
        <p:spPr>
          <a:xfrm>
            <a:off x="9738360" y="3355848"/>
            <a:ext cx="1417320" cy="457200"/>
          </a:xfrm>
          <a:prstGeom prst="rect">
            <a:avLst/>
          </a:prstGeom>
          <a:noFill/>
          <a:ln/>
        </p:spPr>
        <p:txBody>
          <a:bodyPr wrap="square" lIns="0" tIns="0" rIns="0" bIns="0" rtlCol="0" anchor="ctr"/>
          <a:lstStyle/>
          <a:p>
            <a:pPr marL="0" indent="0" algn="ctr">
              <a:buNone/>
            </a:pPr>
            <a:r>
              <a:rPr lang="en-US" sz="1200" b="1" dirty="0">
                <a:solidFill>
                  <a:srgbClr val="0B2E4A"/>
                </a:solidFill>
                <a:latin typeface="Calibri" pitchFamily="34" charset="0"/>
                <a:ea typeface="Calibri" pitchFamily="34" charset="-122"/>
                <a:cs typeface="Calibri" pitchFamily="34" charset="-120"/>
              </a:rPr>
              <a:t>Learn</a:t>
            </a:r>
            <a:endParaRPr lang="en-US" sz="1200" dirty="0"/>
          </a:p>
        </p:txBody>
      </p:sp>
      <p:sp>
        <p:nvSpPr>
          <p:cNvPr id="15" name="Shape 13"/>
          <p:cNvSpPr/>
          <p:nvPr/>
        </p:nvSpPr>
        <p:spPr>
          <a:xfrm>
            <a:off x="9738360" y="3941064"/>
            <a:ext cx="1417320" cy="457200"/>
          </a:xfrm>
          <a:prstGeom prst="roundRect">
            <a:avLst>
              <a:gd name="adj" fmla="val 16000"/>
            </a:avLst>
          </a:prstGeom>
          <a:solidFill>
            <a:srgbClr val="FFFFFF">
              <a:alpha val="12000"/>
            </a:srgbClr>
          </a:solidFill>
          <a:ln w="12700">
            <a:solidFill>
              <a:srgbClr val="FFFFFF"/>
            </a:solidFill>
            <a:prstDash val="solid"/>
          </a:ln>
        </p:spPr>
        <p:txBody>
          <a:bodyPr/>
          <a:lstStyle/>
          <a:p>
            <a:endParaRPr lang="en-US"/>
          </a:p>
        </p:txBody>
      </p:sp>
      <p:sp>
        <p:nvSpPr>
          <p:cNvPr id="16" name="Text 14"/>
          <p:cNvSpPr txBox="1"/>
          <p:nvPr/>
        </p:nvSpPr>
        <p:spPr>
          <a:xfrm>
            <a:off x="9738360" y="3941064"/>
            <a:ext cx="1417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Show</a:t>
            </a:r>
            <a:endParaRPr lang="en-US" sz="1200" dirty="0"/>
          </a:p>
        </p:txBody>
      </p:sp>
      <p:sp>
        <p:nvSpPr>
          <p:cNvPr id="17" name="Text 15"/>
          <p:cNvSpPr txBox="1"/>
          <p:nvPr/>
        </p:nvSpPr>
        <p:spPr>
          <a:xfrm>
            <a:off x="822960" y="6172200"/>
            <a:ext cx="7315200" cy="365760"/>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NTI · Big Data·  2026</a:t>
            </a:r>
            <a:endParaRPr lang="en-US" sz="1200" dirty="0"/>
          </a:p>
        </p:txBody>
      </p:sp>
      <p:sp>
        <p:nvSpPr>
          <p:cNvPr id="18" name="Text 16"/>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8FAAB8"/>
                </a:solidFill>
                <a:latin typeface="Calibri" pitchFamily="34" charset="0"/>
                <a:ea typeface="Calibri" pitchFamily="34" charset="-122"/>
                <a:cs typeface="Calibri" pitchFamily="34" charset="-120"/>
              </a:rPr>
              <a:t>01</a:t>
            </a:r>
            <a:endParaRPr lang="en-US" sz="1000" dirty="0"/>
          </a:p>
        </p:txBody>
      </p:sp>
      <p:pic>
        <p:nvPicPr>
          <p:cNvPr id="20" name="Picture 19">
            <a:extLst>
              <a:ext uri="{FF2B5EF4-FFF2-40B4-BE49-F238E27FC236}">
                <a16:creationId xmlns:a16="http://schemas.microsoft.com/office/drawing/2014/main" id="{EB3EB596-1AE9-503E-B6D2-0734915DADD0}"/>
              </a:ext>
            </a:extLst>
          </p:cNvPr>
          <p:cNvPicPr>
            <a:picLocks noChangeAspect="1"/>
          </p:cNvPicPr>
          <p:nvPr/>
        </p:nvPicPr>
        <p:blipFill>
          <a:blip r:embed="rId3"/>
          <a:stretch>
            <a:fillRect/>
          </a:stretch>
        </p:blipFill>
        <p:spPr>
          <a:xfrm>
            <a:off x="9884027" y="90676"/>
            <a:ext cx="2122045" cy="1025655"/>
          </a:xfrm>
          <a:prstGeom prst="rect">
            <a:avLst/>
          </a:prstGeom>
        </p:spPr>
      </p:pic>
      <p:pic>
        <p:nvPicPr>
          <p:cNvPr id="22" name="Picture 21">
            <a:extLst>
              <a:ext uri="{FF2B5EF4-FFF2-40B4-BE49-F238E27FC236}">
                <a16:creationId xmlns:a16="http://schemas.microsoft.com/office/drawing/2014/main" id="{6F76C3F4-7033-7FC0-1FC1-72019B71B250}"/>
              </a:ext>
            </a:extLst>
          </p:cNvPr>
          <p:cNvPicPr>
            <a:picLocks noChangeAspect="1"/>
          </p:cNvPicPr>
          <p:nvPr/>
        </p:nvPicPr>
        <p:blipFill>
          <a:blip r:embed="rId4"/>
          <a:stretch>
            <a:fillRect/>
          </a:stretch>
        </p:blipFill>
        <p:spPr>
          <a:xfrm>
            <a:off x="185928" y="88311"/>
            <a:ext cx="2207076" cy="11035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PROBLEM SPACE</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Why Ship-Tracking Data Is a Big Data Problem</a:t>
            </a:r>
            <a:endParaRPr lang="en-US" sz="3200" dirty="0"/>
          </a:p>
        </p:txBody>
      </p:sp>
      <p:sp>
        <p:nvSpPr>
          <p:cNvPr id="4" name="Text 2"/>
          <p:cNvSpPr txBox="1"/>
          <p:nvPr/>
        </p:nvSpPr>
        <p:spPr>
          <a:xfrm>
            <a:off x="548640" y="1508760"/>
            <a:ext cx="5669280" cy="1188720"/>
          </a:xfrm>
          <a:prstGeom prst="rect">
            <a:avLst/>
          </a:prstGeom>
          <a:noFill/>
          <a:ln/>
        </p:spPr>
        <p:txBody>
          <a:bodyPr wrap="square" lIns="0" tIns="0" rIns="0" bIns="0" rtlCol="0" anchor="ctr"/>
          <a:lstStyle/>
          <a:p>
            <a:pPr marL="0" indent="0">
              <a:lnSpc>
                <a:spcPct val="125000"/>
              </a:lnSpc>
              <a:buNone/>
            </a:pPr>
            <a:r>
              <a:rPr lang="en-US" sz="1350" dirty="0">
                <a:solidFill>
                  <a:srgbClr val="16232E"/>
                </a:solidFill>
                <a:latin typeface="Calibri" pitchFamily="34" charset="0"/>
                <a:ea typeface="Calibri" pitchFamily="34" charset="-122"/>
                <a:cs typeface="Calibri" pitchFamily="34" charset="-120"/>
              </a:rPr>
              <a:t>Every large ship carries a radio device (AIS) that broadcasts its position. The busier or faster a ship is moving, the more often it “pings” — so the data never stops, and it never slows down.</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5669280" cy="2286000"/>
        </p:xfrm>
        <a:graphic>
          <a:graphicData uri="http://schemas.openxmlformats.org/drawingml/2006/table">
            <a:tbl>
              <a:tblPr/>
              <a:tblGrid>
                <a:gridCol w="32004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Ship Status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How Often It Reports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Anchored / docked</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1F6"/>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Every 3 minutes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1F6"/>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Sailing, slow (0–14 kts)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Every 10 seconds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Sailing, moderate (14–23 kts)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1F6"/>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Every ~6 seconds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1F6"/>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Sailing fast + turning</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dirty="0">
                          <a:solidFill>
                            <a:srgbClr val="16232E"/>
                          </a:solidFill>
                          <a:latin typeface="Calibri" pitchFamily="34" charset="0"/>
                          <a:ea typeface="Calibri" pitchFamily="34" charset="-122"/>
                          <a:cs typeface="Calibri" pitchFamily="34" charset="-120"/>
                        </a:rPr>
                        <a:t>Every ~2 seconds</a:t>
                      </a:r>
                      <a:endParaRPr lang="en-US" sz="11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6675120" y="2148840"/>
            <a:ext cx="4937760" cy="1280160"/>
          </a:xfrm>
          <a:prstGeom prst="roundRect">
            <a:avLst>
              <a:gd name="adj" fmla="val 7143"/>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7" name="Text 4"/>
          <p:cNvSpPr txBox="1"/>
          <p:nvPr/>
        </p:nvSpPr>
        <p:spPr>
          <a:xfrm>
            <a:off x="6949440" y="2286000"/>
            <a:ext cx="1828800" cy="100584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100M+</a:t>
            </a:r>
            <a:endParaRPr lang="en-US" sz="3000" dirty="0"/>
          </a:p>
        </p:txBody>
      </p:sp>
      <p:sp>
        <p:nvSpPr>
          <p:cNvPr id="8" name="Text 5"/>
          <p:cNvSpPr txBox="1"/>
          <p:nvPr/>
        </p:nvSpPr>
        <p:spPr>
          <a:xfrm>
            <a:off x="8823960" y="2286000"/>
            <a:ext cx="2651760" cy="1005840"/>
          </a:xfrm>
          <a:prstGeom prst="rect">
            <a:avLst/>
          </a:prstGeom>
          <a:noFill/>
          <a:ln/>
        </p:spPr>
        <p:txBody>
          <a:bodyPr wrap="square" lIns="0" tIns="0" rIns="0" bIns="0" rtlCol="0" anchor="ctr"/>
          <a:lstStyle/>
          <a:p>
            <a:pPr marL="0" indent="0">
              <a:lnSpc>
                <a:spcPct val="115000"/>
              </a:lnSpc>
              <a:buNone/>
            </a:pPr>
            <a:r>
              <a:rPr lang="en-US" sz="1200" dirty="0">
                <a:solidFill>
                  <a:srgbClr val="16232E"/>
                </a:solidFill>
                <a:latin typeface="Calibri" pitchFamily="34" charset="0"/>
                <a:ea typeface="Calibri" pitchFamily="34" charset="-122"/>
                <a:cs typeface="Calibri" pitchFamily="34" charset="-120"/>
              </a:rPr>
              <a:t>position pings received worldwide every day</a:t>
            </a:r>
            <a:endParaRPr lang="en-US" sz="1200" dirty="0"/>
          </a:p>
        </p:txBody>
      </p:sp>
      <p:sp>
        <p:nvSpPr>
          <p:cNvPr id="9" name="Shape 6"/>
          <p:cNvSpPr/>
          <p:nvPr/>
        </p:nvSpPr>
        <p:spPr>
          <a:xfrm>
            <a:off x="6675120" y="3657600"/>
            <a:ext cx="4937760" cy="1280160"/>
          </a:xfrm>
          <a:prstGeom prst="roundRect">
            <a:avLst>
              <a:gd name="adj" fmla="val 7143"/>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0" name="Text 7"/>
          <p:cNvSpPr txBox="1"/>
          <p:nvPr/>
        </p:nvSpPr>
        <p:spPr>
          <a:xfrm>
            <a:off x="6949440" y="3794760"/>
            <a:ext cx="1828800" cy="100584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5,000</a:t>
            </a:r>
            <a:endParaRPr lang="en-US" sz="3000" dirty="0"/>
          </a:p>
        </p:txBody>
      </p:sp>
      <p:sp>
        <p:nvSpPr>
          <p:cNvPr id="11" name="Text 8"/>
          <p:cNvSpPr txBox="1"/>
          <p:nvPr/>
        </p:nvSpPr>
        <p:spPr>
          <a:xfrm>
            <a:off x="8823960" y="3794760"/>
            <a:ext cx="2651760" cy="1005840"/>
          </a:xfrm>
          <a:prstGeom prst="rect">
            <a:avLst/>
          </a:prstGeom>
          <a:noFill/>
          <a:ln/>
        </p:spPr>
        <p:txBody>
          <a:bodyPr wrap="square" lIns="0" tIns="0" rIns="0" bIns="0" rtlCol="0" anchor="ctr"/>
          <a:lstStyle/>
          <a:p>
            <a:pPr marL="0" indent="0">
              <a:lnSpc>
                <a:spcPct val="115000"/>
              </a:lnSpc>
              <a:buNone/>
            </a:pPr>
            <a:r>
              <a:rPr lang="en-US" sz="1200" dirty="0">
                <a:solidFill>
                  <a:srgbClr val="16232E"/>
                </a:solidFill>
                <a:latin typeface="Calibri" pitchFamily="34" charset="0"/>
                <a:ea typeface="Calibri" pitchFamily="34" charset="-122"/>
                <a:cs typeface="Calibri" pitchFamily="34" charset="-120"/>
              </a:rPr>
              <a:t>messages per second at a busy port or strait</a:t>
            </a:r>
            <a:endParaRPr lang="en-US" sz="1200" dirty="0"/>
          </a:p>
        </p:txBody>
      </p:sp>
      <p:sp>
        <p:nvSpPr>
          <p:cNvPr id="15" name="Text 12"/>
          <p:cNvSpPr txBox="1"/>
          <p:nvPr/>
        </p:nvSpPr>
        <p:spPr>
          <a:xfrm>
            <a:off x="548640" y="608076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Bottom line: the data is constant, spread across a moving map, and often noisy — which is exactly the kind of problem Big Data systems are built to solve.</a:t>
            </a:r>
            <a:endParaRPr lang="en-US" sz="1200" dirty="0"/>
          </a:p>
        </p:txBody>
      </p:sp>
      <p:sp>
        <p:nvSpPr>
          <p:cNvPr id="16" name="Text 13"/>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WHAT THE PLATFORM DELIVERS</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Four Goals, One Pipeline</a:t>
            </a:r>
            <a:endParaRPr lang="en-US" sz="3200" dirty="0"/>
          </a:p>
        </p:txBody>
      </p:sp>
      <p:sp>
        <p:nvSpPr>
          <p:cNvPr id="4" name="Shape 2"/>
          <p:cNvSpPr/>
          <p:nvPr/>
        </p:nvSpPr>
        <p:spPr>
          <a:xfrm>
            <a:off x="548640" y="1600200"/>
            <a:ext cx="2697480" cy="4297680"/>
          </a:xfrm>
          <a:prstGeom prst="roundRect">
            <a:avLst>
              <a:gd name="adj" fmla="val 3390"/>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5" name="Shape 3"/>
          <p:cNvSpPr/>
          <p:nvPr/>
        </p:nvSpPr>
        <p:spPr>
          <a:xfrm>
            <a:off x="1531620" y="1920240"/>
            <a:ext cx="731520" cy="731520"/>
          </a:xfrm>
          <a:prstGeom prst="ellipse">
            <a:avLst/>
          </a:prstGeom>
          <a:solidFill>
            <a:srgbClr val="065A82"/>
          </a:solidFill>
          <a:ln/>
        </p:spPr>
        <p:txBody>
          <a:bodyPr/>
          <a:lstStyle/>
          <a:p>
            <a:endParaRPr lang="en-US"/>
          </a:p>
        </p:txBody>
      </p:sp>
      <p:sp>
        <p:nvSpPr>
          <p:cNvPr id="6" name="Text 4"/>
          <p:cNvSpPr txBox="1"/>
          <p:nvPr/>
        </p:nvSpPr>
        <p:spPr>
          <a:xfrm>
            <a:off x="1531620" y="1920240"/>
            <a:ext cx="731520" cy="731520"/>
          </a:xfrm>
          <a:prstGeom prst="rect">
            <a:avLst/>
          </a:prstGeom>
          <a:noFill/>
          <a:ln/>
        </p:spPr>
        <p:txBody>
          <a:bodyPr wrap="square" lIns="0" tIns="0" rIns="0" bIns="0" rtlCol="0" anchor="ctr"/>
          <a:lstStyle/>
          <a:p>
            <a:pPr marL="0" indent="0" algn="ctr">
              <a:buNone/>
            </a:pPr>
            <a:r>
              <a:rPr lang="en-US" sz="2080" b="1" dirty="0">
                <a:solidFill>
                  <a:srgbClr val="FFFFFF"/>
                </a:solidFill>
                <a:latin typeface="Calibri" pitchFamily="34" charset="0"/>
                <a:ea typeface="Calibri" pitchFamily="34" charset="-122"/>
                <a:cs typeface="Calibri" pitchFamily="34" charset="-120"/>
              </a:rPr>
              <a:t>◉</a:t>
            </a:r>
            <a:endParaRPr lang="en-US" sz="2080" dirty="0"/>
          </a:p>
        </p:txBody>
      </p:sp>
      <p:sp>
        <p:nvSpPr>
          <p:cNvPr id="7" name="Text 5"/>
          <p:cNvSpPr txBox="1"/>
          <p:nvPr/>
        </p:nvSpPr>
        <p:spPr>
          <a:xfrm>
            <a:off x="731520" y="2834640"/>
            <a:ext cx="2331720" cy="640080"/>
          </a:xfrm>
          <a:prstGeom prst="rect">
            <a:avLst/>
          </a:prstGeom>
          <a:noFill/>
          <a:ln/>
        </p:spPr>
        <p:txBody>
          <a:bodyPr wrap="square" lIns="0" tIns="0" rIns="0" bIns="0" rtlCol="0" anchor="ctr"/>
          <a:lstStyle/>
          <a:p>
            <a:pPr marL="0" indent="0" algn="ctr">
              <a:buNone/>
            </a:pPr>
            <a:r>
              <a:rPr lang="en-US" sz="1500" b="1" dirty="0">
                <a:solidFill>
                  <a:srgbClr val="0B2E4A"/>
                </a:solidFill>
                <a:latin typeface="Cambria" pitchFamily="34" charset="0"/>
                <a:ea typeface="Cambria" pitchFamily="34" charset="-122"/>
                <a:cs typeface="Cambria" pitchFamily="34" charset="-120"/>
              </a:rPr>
              <a:t>Live Fleet Tracking</a:t>
            </a:r>
            <a:endParaRPr lang="en-US" sz="1500" dirty="0"/>
          </a:p>
        </p:txBody>
      </p:sp>
      <p:sp>
        <p:nvSpPr>
          <p:cNvPr id="8" name="Text 6"/>
          <p:cNvSpPr txBox="1"/>
          <p:nvPr/>
        </p:nvSpPr>
        <p:spPr>
          <a:xfrm>
            <a:off x="777240" y="3474720"/>
            <a:ext cx="2240280" cy="1554480"/>
          </a:xfrm>
          <a:prstGeom prst="rect">
            <a:avLst/>
          </a:prstGeom>
          <a:noFill/>
          <a:ln/>
        </p:spPr>
        <p:txBody>
          <a:bodyPr wrap="square" lIns="0" tIns="0" rIns="0" bIns="0" rtlCol="0" anchor="ctr"/>
          <a:lstStyle/>
          <a:p>
            <a:pPr marL="0" indent="0" algn="ctr">
              <a:lnSpc>
                <a:spcPct val="120000"/>
              </a:lnSpc>
              <a:buNone/>
            </a:pPr>
            <a:r>
              <a:rPr lang="en-US" sz="1150" dirty="0">
                <a:solidFill>
                  <a:srgbClr val="16232E"/>
                </a:solidFill>
                <a:latin typeface="Calibri" pitchFamily="34" charset="0"/>
                <a:ea typeface="Calibri" pitchFamily="34" charset="-122"/>
                <a:cs typeface="Calibri" pitchFamily="34" charset="-120"/>
              </a:rPr>
              <a:t>Always know where every ship is right now, updated in under a second.</a:t>
            </a:r>
            <a:endParaRPr lang="en-US" sz="1150" dirty="0"/>
          </a:p>
        </p:txBody>
      </p:sp>
      <p:sp>
        <p:nvSpPr>
          <p:cNvPr id="9" name="Shape 7"/>
          <p:cNvSpPr/>
          <p:nvPr/>
        </p:nvSpPr>
        <p:spPr>
          <a:xfrm>
            <a:off x="822960" y="5120640"/>
            <a:ext cx="2148840" cy="0"/>
          </a:xfrm>
          <a:prstGeom prst="line">
            <a:avLst/>
          </a:prstGeom>
          <a:noFill/>
          <a:ln w="12700">
            <a:solidFill>
              <a:srgbClr val="D7E4EA"/>
            </a:solidFill>
            <a:prstDash val="solid"/>
          </a:ln>
        </p:spPr>
        <p:txBody>
          <a:bodyPr/>
          <a:lstStyle/>
          <a:p>
            <a:endParaRPr lang="en-US"/>
          </a:p>
        </p:txBody>
      </p:sp>
      <p:sp>
        <p:nvSpPr>
          <p:cNvPr id="10" name="Text 8"/>
          <p:cNvSpPr txBox="1"/>
          <p:nvPr/>
        </p:nvSpPr>
        <p:spPr>
          <a:xfrm>
            <a:off x="731520" y="5239512"/>
            <a:ext cx="2331720" cy="45720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 active_fleet_state</a:t>
            </a:r>
            <a:endParaRPr lang="en-US" sz="1000" dirty="0"/>
          </a:p>
        </p:txBody>
      </p:sp>
      <p:sp>
        <p:nvSpPr>
          <p:cNvPr id="11" name="Shape 9"/>
          <p:cNvSpPr/>
          <p:nvPr/>
        </p:nvSpPr>
        <p:spPr>
          <a:xfrm>
            <a:off x="3474720" y="1600200"/>
            <a:ext cx="2697480" cy="4297680"/>
          </a:xfrm>
          <a:prstGeom prst="roundRect">
            <a:avLst>
              <a:gd name="adj" fmla="val 3390"/>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2" name="Shape 10"/>
          <p:cNvSpPr/>
          <p:nvPr/>
        </p:nvSpPr>
        <p:spPr>
          <a:xfrm>
            <a:off x="4457700" y="1920240"/>
            <a:ext cx="731520" cy="731520"/>
          </a:xfrm>
          <a:prstGeom prst="ellipse">
            <a:avLst/>
          </a:prstGeom>
          <a:solidFill>
            <a:srgbClr val="065A82"/>
          </a:solidFill>
          <a:ln/>
        </p:spPr>
        <p:txBody>
          <a:bodyPr/>
          <a:lstStyle/>
          <a:p>
            <a:endParaRPr lang="en-US"/>
          </a:p>
        </p:txBody>
      </p:sp>
      <p:sp>
        <p:nvSpPr>
          <p:cNvPr id="13" name="Text 11"/>
          <p:cNvSpPr txBox="1"/>
          <p:nvPr/>
        </p:nvSpPr>
        <p:spPr>
          <a:xfrm>
            <a:off x="4457700" y="1920240"/>
            <a:ext cx="731520" cy="731520"/>
          </a:xfrm>
          <a:prstGeom prst="rect">
            <a:avLst/>
          </a:prstGeom>
          <a:noFill/>
          <a:ln/>
        </p:spPr>
        <p:txBody>
          <a:bodyPr wrap="square" lIns="0" tIns="0" rIns="0" bIns="0" rtlCol="0" anchor="ctr"/>
          <a:lstStyle/>
          <a:p>
            <a:pPr marL="0" indent="0" algn="ctr">
              <a:buNone/>
            </a:pPr>
            <a:r>
              <a:rPr lang="en-US" sz="2080" b="1" dirty="0">
                <a:solidFill>
                  <a:srgbClr val="FFFFFF"/>
                </a:solidFill>
                <a:latin typeface="Calibri" pitchFamily="34" charset="0"/>
                <a:ea typeface="Calibri" pitchFamily="34" charset="-122"/>
                <a:cs typeface="Calibri" pitchFamily="34" charset="-120"/>
              </a:rPr>
              <a:t>⚓</a:t>
            </a:r>
            <a:endParaRPr lang="en-US" sz="2080" dirty="0"/>
          </a:p>
        </p:txBody>
      </p:sp>
      <p:sp>
        <p:nvSpPr>
          <p:cNvPr id="14" name="Text 12"/>
          <p:cNvSpPr txBox="1"/>
          <p:nvPr/>
        </p:nvSpPr>
        <p:spPr>
          <a:xfrm>
            <a:off x="3657600" y="2834640"/>
            <a:ext cx="2331720" cy="640080"/>
          </a:xfrm>
          <a:prstGeom prst="rect">
            <a:avLst/>
          </a:prstGeom>
          <a:noFill/>
          <a:ln/>
        </p:spPr>
        <p:txBody>
          <a:bodyPr wrap="square" lIns="0" tIns="0" rIns="0" bIns="0" rtlCol="0" anchor="ctr"/>
          <a:lstStyle/>
          <a:p>
            <a:pPr marL="0" indent="0" algn="ctr">
              <a:buNone/>
            </a:pPr>
            <a:r>
              <a:rPr lang="en-US" sz="1500" b="1" dirty="0">
                <a:solidFill>
                  <a:srgbClr val="0B2E4A"/>
                </a:solidFill>
                <a:latin typeface="Cambria" pitchFamily="34" charset="0"/>
                <a:ea typeface="Cambria" pitchFamily="34" charset="-122"/>
                <a:cs typeface="Cambria" pitchFamily="34" charset="-120"/>
              </a:rPr>
              <a:t>Port Dwell Time</a:t>
            </a:r>
            <a:endParaRPr lang="en-US" sz="1500" dirty="0"/>
          </a:p>
        </p:txBody>
      </p:sp>
      <p:sp>
        <p:nvSpPr>
          <p:cNvPr id="15" name="Text 13"/>
          <p:cNvSpPr txBox="1"/>
          <p:nvPr/>
        </p:nvSpPr>
        <p:spPr>
          <a:xfrm>
            <a:off x="3703320" y="3474720"/>
            <a:ext cx="2240280" cy="1554480"/>
          </a:xfrm>
          <a:prstGeom prst="rect">
            <a:avLst/>
          </a:prstGeom>
          <a:noFill/>
          <a:ln/>
        </p:spPr>
        <p:txBody>
          <a:bodyPr wrap="square" lIns="0" tIns="0" rIns="0" bIns="0" rtlCol="0" anchor="ctr"/>
          <a:lstStyle/>
          <a:p>
            <a:pPr marL="0" indent="0" algn="ctr">
              <a:lnSpc>
                <a:spcPct val="120000"/>
              </a:lnSpc>
              <a:buNone/>
            </a:pPr>
            <a:r>
              <a:rPr lang="en-US" sz="1150" dirty="0">
                <a:solidFill>
                  <a:srgbClr val="16232E"/>
                </a:solidFill>
                <a:latin typeface="Calibri" pitchFamily="34" charset="0"/>
                <a:ea typeface="Calibri" pitchFamily="34" charset="-122"/>
                <a:cs typeface="Calibri" pitchFamily="34" charset="-120"/>
              </a:rPr>
              <a:t>Detect when a ship enters or leaves a port and how long it stayed.</a:t>
            </a:r>
            <a:endParaRPr lang="en-US" sz="1150" dirty="0"/>
          </a:p>
        </p:txBody>
      </p:sp>
      <p:sp>
        <p:nvSpPr>
          <p:cNvPr id="16" name="Shape 14"/>
          <p:cNvSpPr/>
          <p:nvPr/>
        </p:nvSpPr>
        <p:spPr>
          <a:xfrm>
            <a:off x="3749040" y="5120640"/>
            <a:ext cx="2148840" cy="0"/>
          </a:xfrm>
          <a:prstGeom prst="line">
            <a:avLst/>
          </a:prstGeom>
          <a:noFill/>
          <a:ln w="12700">
            <a:solidFill>
              <a:srgbClr val="D7E4EA"/>
            </a:solidFill>
            <a:prstDash val="solid"/>
          </a:ln>
        </p:spPr>
        <p:txBody>
          <a:bodyPr/>
          <a:lstStyle/>
          <a:p>
            <a:endParaRPr lang="en-US"/>
          </a:p>
        </p:txBody>
      </p:sp>
      <p:sp>
        <p:nvSpPr>
          <p:cNvPr id="17" name="Text 15"/>
          <p:cNvSpPr txBox="1"/>
          <p:nvPr/>
        </p:nvSpPr>
        <p:spPr>
          <a:xfrm>
            <a:off x="3657600" y="5239512"/>
            <a:ext cx="2331720" cy="45720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 port_dwell_times</a:t>
            </a:r>
            <a:endParaRPr lang="en-US" sz="1000" dirty="0"/>
          </a:p>
        </p:txBody>
      </p:sp>
      <p:sp>
        <p:nvSpPr>
          <p:cNvPr id="18" name="Shape 16"/>
          <p:cNvSpPr/>
          <p:nvPr/>
        </p:nvSpPr>
        <p:spPr>
          <a:xfrm>
            <a:off x="6400800" y="1600200"/>
            <a:ext cx="2697480" cy="4297680"/>
          </a:xfrm>
          <a:prstGeom prst="roundRect">
            <a:avLst>
              <a:gd name="adj" fmla="val 3390"/>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9" name="Shape 17"/>
          <p:cNvSpPr/>
          <p:nvPr/>
        </p:nvSpPr>
        <p:spPr>
          <a:xfrm>
            <a:off x="7383780" y="1920240"/>
            <a:ext cx="731520" cy="731520"/>
          </a:xfrm>
          <a:prstGeom prst="ellipse">
            <a:avLst/>
          </a:prstGeom>
          <a:solidFill>
            <a:srgbClr val="F2A93B"/>
          </a:solidFill>
          <a:ln/>
        </p:spPr>
        <p:txBody>
          <a:bodyPr/>
          <a:lstStyle/>
          <a:p>
            <a:endParaRPr lang="en-US"/>
          </a:p>
        </p:txBody>
      </p:sp>
      <p:sp>
        <p:nvSpPr>
          <p:cNvPr id="20" name="Text 18"/>
          <p:cNvSpPr txBox="1"/>
          <p:nvPr/>
        </p:nvSpPr>
        <p:spPr>
          <a:xfrm>
            <a:off x="7383780" y="1920240"/>
            <a:ext cx="731520" cy="731520"/>
          </a:xfrm>
          <a:prstGeom prst="rect">
            <a:avLst/>
          </a:prstGeom>
          <a:noFill/>
          <a:ln/>
        </p:spPr>
        <p:txBody>
          <a:bodyPr wrap="square" lIns="0" tIns="0" rIns="0" bIns="0" rtlCol="0" anchor="ctr"/>
          <a:lstStyle/>
          <a:p>
            <a:pPr marL="0" indent="0" algn="ctr">
              <a:buNone/>
            </a:pPr>
            <a:r>
              <a:rPr lang="en-US" sz="2080" b="1" dirty="0">
                <a:solidFill>
                  <a:srgbClr val="0B2E4A"/>
                </a:solidFill>
                <a:latin typeface="Calibri" pitchFamily="34" charset="0"/>
                <a:ea typeface="Calibri" pitchFamily="34" charset="-122"/>
                <a:cs typeface="Calibri" pitchFamily="34" charset="-120"/>
              </a:rPr>
              <a:t>⚠</a:t>
            </a:r>
            <a:endParaRPr lang="en-US" sz="2080" dirty="0"/>
          </a:p>
        </p:txBody>
      </p:sp>
      <p:sp>
        <p:nvSpPr>
          <p:cNvPr id="21" name="Text 19"/>
          <p:cNvSpPr txBox="1"/>
          <p:nvPr/>
        </p:nvSpPr>
        <p:spPr>
          <a:xfrm>
            <a:off x="6583680" y="2834640"/>
            <a:ext cx="2331720" cy="640080"/>
          </a:xfrm>
          <a:prstGeom prst="rect">
            <a:avLst/>
          </a:prstGeom>
          <a:noFill/>
          <a:ln/>
        </p:spPr>
        <p:txBody>
          <a:bodyPr wrap="square" lIns="0" tIns="0" rIns="0" bIns="0" rtlCol="0" anchor="ctr"/>
          <a:lstStyle/>
          <a:p>
            <a:pPr marL="0" indent="0" algn="ctr">
              <a:buNone/>
            </a:pPr>
            <a:r>
              <a:rPr lang="en-US" sz="1500" b="1" dirty="0">
                <a:solidFill>
                  <a:srgbClr val="0B2E4A"/>
                </a:solidFill>
                <a:latin typeface="Cambria" pitchFamily="34" charset="0"/>
                <a:ea typeface="Cambria" pitchFamily="34" charset="-122"/>
                <a:cs typeface="Cambria" pitchFamily="34" charset="-120"/>
              </a:rPr>
              <a:t>Speeding Alerts</a:t>
            </a:r>
            <a:endParaRPr lang="en-US" sz="1500" dirty="0"/>
          </a:p>
        </p:txBody>
      </p:sp>
      <p:sp>
        <p:nvSpPr>
          <p:cNvPr id="22" name="Text 20"/>
          <p:cNvSpPr txBox="1"/>
          <p:nvPr/>
        </p:nvSpPr>
        <p:spPr>
          <a:xfrm>
            <a:off x="6629400" y="3474720"/>
            <a:ext cx="2240280" cy="1554480"/>
          </a:xfrm>
          <a:prstGeom prst="rect">
            <a:avLst/>
          </a:prstGeom>
          <a:noFill/>
          <a:ln/>
        </p:spPr>
        <p:txBody>
          <a:bodyPr wrap="square" lIns="0" tIns="0" rIns="0" bIns="0" rtlCol="0" anchor="ctr"/>
          <a:lstStyle/>
          <a:p>
            <a:pPr marL="0" indent="0" algn="ctr">
              <a:lnSpc>
                <a:spcPct val="120000"/>
              </a:lnSpc>
              <a:buNone/>
            </a:pPr>
            <a:r>
              <a:rPr lang="en-US" sz="1150" dirty="0">
                <a:solidFill>
                  <a:srgbClr val="16232E"/>
                </a:solidFill>
                <a:latin typeface="Calibri" pitchFamily="34" charset="0"/>
                <a:ea typeface="Calibri" pitchFamily="34" charset="-122"/>
                <a:cs typeface="Calibri" pitchFamily="34" charset="-120"/>
              </a:rPr>
              <a:t>Flag ships going faster than the safe limit for their zone, instantly.</a:t>
            </a:r>
            <a:endParaRPr lang="en-US" sz="1150" dirty="0"/>
          </a:p>
        </p:txBody>
      </p:sp>
      <p:sp>
        <p:nvSpPr>
          <p:cNvPr id="23" name="Shape 21"/>
          <p:cNvSpPr/>
          <p:nvPr/>
        </p:nvSpPr>
        <p:spPr>
          <a:xfrm>
            <a:off x="6675120" y="5120640"/>
            <a:ext cx="2148840" cy="0"/>
          </a:xfrm>
          <a:prstGeom prst="line">
            <a:avLst/>
          </a:prstGeom>
          <a:noFill/>
          <a:ln w="12700">
            <a:solidFill>
              <a:srgbClr val="D7E4EA"/>
            </a:solidFill>
            <a:prstDash val="solid"/>
          </a:ln>
        </p:spPr>
        <p:txBody>
          <a:bodyPr/>
          <a:lstStyle/>
          <a:p>
            <a:endParaRPr lang="en-US"/>
          </a:p>
        </p:txBody>
      </p:sp>
      <p:sp>
        <p:nvSpPr>
          <p:cNvPr id="24" name="Text 22"/>
          <p:cNvSpPr txBox="1"/>
          <p:nvPr/>
        </p:nvSpPr>
        <p:spPr>
          <a:xfrm>
            <a:off x="6583680" y="5239512"/>
            <a:ext cx="2331720" cy="45720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 vessel_speed_alerts</a:t>
            </a:r>
            <a:endParaRPr lang="en-US" sz="1000" dirty="0"/>
          </a:p>
        </p:txBody>
      </p:sp>
      <p:sp>
        <p:nvSpPr>
          <p:cNvPr id="25" name="Shape 23"/>
          <p:cNvSpPr/>
          <p:nvPr/>
        </p:nvSpPr>
        <p:spPr>
          <a:xfrm>
            <a:off x="9326880" y="1600200"/>
            <a:ext cx="2697480" cy="4297680"/>
          </a:xfrm>
          <a:prstGeom prst="roundRect">
            <a:avLst>
              <a:gd name="adj" fmla="val 3390"/>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26" name="Shape 24"/>
          <p:cNvSpPr/>
          <p:nvPr/>
        </p:nvSpPr>
        <p:spPr>
          <a:xfrm>
            <a:off x="10309860" y="1920240"/>
            <a:ext cx="731520" cy="731520"/>
          </a:xfrm>
          <a:prstGeom prst="ellipse">
            <a:avLst/>
          </a:prstGeom>
          <a:solidFill>
            <a:srgbClr val="065A82"/>
          </a:solidFill>
          <a:ln/>
        </p:spPr>
        <p:txBody>
          <a:bodyPr/>
          <a:lstStyle/>
          <a:p>
            <a:endParaRPr lang="en-US"/>
          </a:p>
        </p:txBody>
      </p:sp>
      <p:sp>
        <p:nvSpPr>
          <p:cNvPr id="27" name="Text 25"/>
          <p:cNvSpPr txBox="1"/>
          <p:nvPr/>
        </p:nvSpPr>
        <p:spPr>
          <a:xfrm>
            <a:off x="10309860" y="1920240"/>
            <a:ext cx="731520" cy="731520"/>
          </a:xfrm>
          <a:prstGeom prst="rect">
            <a:avLst/>
          </a:prstGeom>
          <a:noFill/>
          <a:ln/>
        </p:spPr>
        <p:txBody>
          <a:bodyPr wrap="square" lIns="0" tIns="0" rIns="0" bIns="0" rtlCol="0" anchor="ctr"/>
          <a:lstStyle/>
          <a:p>
            <a:pPr marL="0" indent="0" algn="ctr">
              <a:buNone/>
            </a:pPr>
            <a:r>
              <a:rPr lang="en-US" sz="2080" b="1" dirty="0">
                <a:solidFill>
                  <a:srgbClr val="FFFFFF"/>
                </a:solidFill>
                <a:latin typeface="Calibri" pitchFamily="34" charset="0"/>
                <a:ea typeface="Calibri" pitchFamily="34" charset="-122"/>
                <a:cs typeface="Calibri" pitchFamily="34" charset="-120"/>
              </a:rPr>
              <a:t>⚙</a:t>
            </a:r>
            <a:endParaRPr lang="en-US" sz="2080" dirty="0"/>
          </a:p>
        </p:txBody>
      </p:sp>
      <p:sp>
        <p:nvSpPr>
          <p:cNvPr id="28" name="Text 26"/>
          <p:cNvSpPr txBox="1"/>
          <p:nvPr/>
        </p:nvSpPr>
        <p:spPr>
          <a:xfrm>
            <a:off x="9509760" y="2834640"/>
            <a:ext cx="2331720" cy="640080"/>
          </a:xfrm>
          <a:prstGeom prst="rect">
            <a:avLst/>
          </a:prstGeom>
          <a:noFill/>
          <a:ln/>
        </p:spPr>
        <p:txBody>
          <a:bodyPr wrap="square" lIns="0" tIns="0" rIns="0" bIns="0" rtlCol="0" anchor="ctr"/>
          <a:lstStyle/>
          <a:p>
            <a:pPr marL="0" indent="0" algn="ctr">
              <a:buNone/>
            </a:pPr>
            <a:r>
              <a:rPr lang="en-US" sz="1500" b="1" dirty="0">
                <a:solidFill>
                  <a:srgbClr val="0B2E4A"/>
                </a:solidFill>
                <a:latin typeface="Cambria" pitchFamily="34" charset="0"/>
                <a:ea typeface="Cambria" pitchFamily="34" charset="-122"/>
                <a:cs typeface="Cambria" pitchFamily="34" charset="-120"/>
              </a:rPr>
              <a:t>Behavior Clustering</a:t>
            </a:r>
            <a:endParaRPr lang="en-US" sz="1500" dirty="0"/>
          </a:p>
        </p:txBody>
      </p:sp>
      <p:sp>
        <p:nvSpPr>
          <p:cNvPr id="29" name="Text 27"/>
          <p:cNvSpPr txBox="1"/>
          <p:nvPr/>
        </p:nvSpPr>
        <p:spPr>
          <a:xfrm>
            <a:off x="9555480" y="3474720"/>
            <a:ext cx="2240280" cy="1554480"/>
          </a:xfrm>
          <a:prstGeom prst="rect">
            <a:avLst/>
          </a:prstGeom>
          <a:noFill/>
          <a:ln/>
        </p:spPr>
        <p:txBody>
          <a:bodyPr wrap="square" lIns="0" tIns="0" rIns="0" bIns="0" rtlCol="0" anchor="ctr"/>
          <a:lstStyle/>
          <a:p>
            <a:pPr marL="0" indent="0" algn="ctr">
              <a:lnSpc>
                <a:spcPct val="120000"/>
              </a:lnSpc>
              <a:buNone/>
            </a:pPr>
            <a:r>
              <a:rPr lang="en-US" sz="1150" dirty="0">
                <a:solidFill>
                  <a:srgbClr val="16232E"/>
                </a:solidFill>
                <a:latin typeface="Calibri" pitchFamily="34" charset="0"/>
                <a:ea typeface="Calibri" pitchFamily="34" charset="-122"/>
                <a:cs typeface="Calibri" pitchFamily="34" charset="-120"/>
              </a:rPr>
              <a:t>Use AI to group ships by behavior — transiting, loitering, fishing, or unusual.</a:t>
            </a:r>
            <a:endParaRPr lang="en-US" sz="1150" dirty="0"/>
          </a:p>
        </p:txBody>
      </p:sp>
      <p:sp>
        <p:nvSpPr>
          <p:cNvPr id="30" name="Shape 28"/>
          <p:cNvSpPr/>
          <p:nvPr/>
        </p:nvSpPr>
        <p:spPr>
          <a:xfrm>
            <a:off x="9601200" y="5120640"/>
            <a:ext cx="2148840" cy="0"/>
          </a:xfrm>
          <a:prstGeom prst="line">
            <a:avLst/>
          </a:prstGeom>
          <a:noFill/>
          <a:ln w="12700">
            <a:solidFill>
              <a:srgbClr val="D7E4EA"/>
            </a:solidFill>
            <a:prstDash val="solid"/>
          </a:ln>
        </p:spPr>
        <p:txBody>
          <a:bodyPr/>
          <a:lstStyle/>
          <a:p>
            <a:endParaRPr lang="en-US"/>
          </a:p>
        </p:txBody>
      </p:sp>
      <p:sp>
        <p:nvSpPr>
          <p:cNvPr id="31" name="Text 29"/>
          <p:cNvSpPr txBox="1"/>
          <p:nvPr/>
        </p:nvSpPr>
        <p:spPr>
          <a:xfrm>
            <a:off x="9509760" y="5239512"/>
            <a:ext cx="2331720" cy="45720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 vessel_behavior_clusters</a:t>
            </a:r>
            <a:endParaRPr lang="en-US" sz="1000" dirty="0"/>
          </a:p>
        </p:txBody>
      </p:sp>
      <p:sp>
        <p:nvSpPr>
          <p:cNvPr id="32" name="Text 30"/>
          <p:cNvSpPr txBox="1"/>
          <p:nvPr/>
        </p:nvSpPr>
        <p:spPr>
          <a:xfrm>
            <a:off x="548640" y="608076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Each goal is backed by its own database table — shown in the data model later in this deck.</a:t>
            </a:r>
            <a:endParaRPr lang="en-US" sz="1200" dirty="0"/>
          </a:p>
        </p:txBody>
      </p:sp>
      <p:sp>
        <p:nvSpPr>
          <p:cNvPr id="33" name="Text 31"/>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4A"/>
        </a:solidFill>
        <a:effectLst/>
      </p:bgPr>
    </p:bg>
    <p:spTree>
      <p:nvGrpSpPr>
        <p:cNvPr id="1" name=""/>
        <p:cNvGrpSpPr/>
        <p:nvPr/>
      </p:nvGrpSpPr>
      <p:grpSpPr>
        <a:xfrm>
          <a:off x="0" y="0"/>
          <a:ext cx="0" cy="0"/>
          <a:chOff x="0" y="0"/>
          <a:chExt cx="0" cy="0"/>
        </a:xfrm>
      </p:grpSpPr>
      <p:sp>
        <p:nvSpPr>
          <p:cNvPr id="52" name="Shape 11">
            <a:extLst>
              <a:ext uri="{FF2B5EF4-FFF2-40B4-BE49-F238E27FC236}">
                <a16:creationId xmlns:a16="http://schemas.microsoft.com/office/drawing/2014/main" id="{179A246D-6D8C-01E3-5E6A-1AE78A54FC29}"/>
              </a:ext>
            </a:extLst>
          </p:cNvPr>
          <p:cNvSpPr>
            <a:spLocks noGrp="1" noRot="1" noMove="1" noResize="1" noEditPoints="1" noAdjustHandles="1" noChangeArrowheads="1" noChangeShapeType="1"/>
          </p:cNvSpPr>
          <p:nvPr/>
        </p:nvSpPr>
        <p:spPr>
          <a:xfrm>
            <a:off x="1371600" y="3383280"/>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dirty="0"/>
          </a:p>
        </p:txBody>
      </p:sp>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THE BIG PICTURE</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Five Layers, One Pipeline</a:t>
            </a:r>
            <a:endParaRPr lang="en-US" sz="3200" dirty="0"/>
          </a:p>
        </p:txBody>
      </p:sp>
      <p:sp>
        <p:nvSpPr>
          <p:cNvPr id="4" name="Shape 2"/>
          <p:cNvSpPr/>
          <p:nvPr/>
        </p:nvSpPr>
        <p:spPr>
          <a:xfrm>
            <a:off x="548640" y="1691640"/>
            <a:ext cx="685800" cy="749808"/>
          </a:xfrm>
          <a:prstGeom prst="roundRect">
            <a:avLst>
              <a:gd name="adj" fmla="val 10667"/>
            </a:avLst>
          </a:prstGeom>
          <a:solidFill>
            <a:srgbClr val="1C7293"/>
          </a:solidFill>
          <a:ln/>
        </p:spPr>
        <p:txBody>
          <a:bodyPr/>
          <a:lstStyle/>
          <a:p>
            <a:endParaRPr lang="en-US"/>
          </a:p>
        </p:txBody>
      </p:sp>
      <p:sp>
        <p:nvSpPr>
          <p:cNvPr id="5" name="Text 3"/>
          <p:cNvSpPr txBox="1"/>
          <p:nvPr/>
        </p:nvSpPr>
        <p:spPr>
          <a:xfrm>
            <a:off x="548640" y="1691640"/>
            <a:ext cx="68580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6" name="Shape 4"/>
          <p:cNvSpPr/>
          <p:nvPr/>
        </p:nvSpPr>
        <p:spPr>
          <a:xfrm>
            <a:off x="1371600" y="1691640"/>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a:p>
        </p:txBody>
      </p:sp>
      <p:sp>
        <p:nvSpPr>
          <p:cNvPr id="7" name="Text 5"/>
          <p:cNvSpPr txBox="1"/>
          <p:nvPr/>
        </p:nvSpPr>
        <p:spPr>
          <a:xfrm>
            <a:off x="1600200" y="1746504"/>
            <a:ext cx="5943600" cy="310896"/>
          </a:xfrm>
          <a:prstGeom prst="rect">
            <a:avLst/>
          </a:prstGeom>
          <a:noFill/>
          <a:ln/>
        </p:spPr>
        <p:txBody>
          <a:bodyPr wrap="square" lIns="0" tIns="0" rIns="0" bIns="0" rtlCol="0" anchor="ctr"/>
          <a:lstStyle/>
          <a:p>
            <a:pPr marL="0" indent="0">
              <a:buNone/>
            </a:pPr>
            <a:r>
              <a:rPr lang="en-US" sz="1200" b="1" kern="0" spc="100" dirty="0">
                <a:solidFill>
                  <a:srgbClr val="CFE8F0"/>
                </a:solidFill>
                <a:latin typeface="Calibri" pitchFamily="34" charset="0"/>
                <a:ea typeface="Calibri" pitchFamily="34" charset="-122"/>
                <a:cs typeface="Calibri" pitchFamily="34" charset="-120"/>
              </a:rPr>
              <a:t>SOURCE</a:t>
            </a:r>
            <a:endParaRPr lang="en-US" sz="1200" dirty="0"/>
          </a:p>
        </p:txBody>
      </p:sp>
      <p:sp>
        <p:nvSpPr>
          <p:cNvPr id="8" name="Text 6"/>
          <p:cNvSpPr txBox="1"/>
          <p:nvPr/>
        </p:nvSpPr>
        <p:spPr>
          <a:xfrm>
            <a:off x="1600200" y="2039112"/>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Ships broadcast AIS radio signals</a:t>
            </a:r>
            <a:endParaRPr lang="en-US" sz="1250" dirty="0"/>
          </a:p>
        </p:txBody>
      </p:sp>
      <p:sp>
        <p:nvSpPr>
          <p:cNvPr id="9" name="Shape 7"/>
          <p:cNvSpPr/>
          <p:nvPr/>
        </p:nvSpPr>
        <p:spPr>
          <a:xfrm>
            <a:off x="8001000" y="1691640"/>
            <a:ext cx="3611880" cy="749808"/>
          </a:xfrm>
          <a:prstGeom prst="roundRect">
            <a:avLst>
              <a:gd name="adj" fmla="val 9756"/>
            </a:avLst>
          </a:prstGeom>
          <a:solidFill>
            <a:srgbClr val="065A82"/>
          </a:solidFill>
          <a:ln/>
        </p:spPr>
        <p:txBody>
          <a:bodyPr/>
          <a:lstStyle/>
          <a:p>
            <a:endParaRPr lang="en-US"/>
          </a:p>
        </p:txBody>
      </p:sp>
      <p:sp>
        <p:nvSpPr>
          <p:cNvPr id="10" name="Text 8"/>
          <p:cNvSpPr txBox="1"/>
          <p:nvPr/>
        </p:nvSpPr>
        <p:spPr>
          <a:xfrm>
            <a:off x="8138160" y="1691640"/>
            <a:ext cx="333756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AIS receivers / simulator</a:t>
            </a:r>
            <a:endParaRPr lang="en-US" sz="1250" dirty="0"/>
          </a:p>
        </p:txBody>
      </p:sp>
      <p:sp>
        <p:nvSpPr>
          <p:cNvPr id="11" name="Shape 9"/>
          <p:cNvSpPr/>
          <p:nvPr/>
        </p:nvSpPr>
        <p:spPr>
          <a:xfrm>
            <a:off x="548640" y="2532888"/>
            <a:ext cx="685800" cy="749808"/>
          </a:xfrm>
          <a:prstGeom prst="roundRect">
            <a:avLst>
              <a:gd name="adj" fmla="val 10667"/>
            </a:avLst>
          </a:prstGeom>
          <a:solidFill>
            <a:srgbClr val="1C7293"/>
          </a:solidFill>
          <a:ln/>
        </p:spPr>
        <p:txBody>
          <a:bodyPr/>
          <a:lstStyle/>
          <a:p>
            <a:endParaRPr lang="en-US"/>
          </a:p>
        </p:txBody>
      </p:sp>
      <p:sp>
        <p:nvSpPr>
          <p:cNvPr id="12" name="Text 10"/>
          <p:cNvSpPr txBox="1"/>
          <p:nvPr/>
        </p:nvSpPr>
        <p:spPr>
          <a:xfrm>
            <a:off x="548640" y="2542494"/>
            <a:ext cx="68580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3" name="Shape 11"/>
          <p:cNvSpPr/>
          <p:nvPr/>
        </p:nvSpPr>
        <p:spPr>
          <a:xfrm>
            <a:off x="1371600" y="2532888"/>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a:p>
        </p:txBody>
      </p:sp>
      <p:sp>
        <p:nvSpPr>
          <p:cNvPr id="14" name="Text 12"/>
          <p:cNvSpPr txBox="1"/>
          <p:nvPr/>
        </p:nvSpPr>
        <p:spPr>
          <a:xfrm>
            <a:off x="1600200" y="2587752"/>
            <a:ext cx="5943600" cy="310896"/>
          </a:xfrm>
          <a:prstGeom prst="rect">
            <a:avLst/>
          </a:prstGeom>
          <a:noFill/>
          <a:ln/>
        </p:spPr>
        <p:txBody>
          <a:bodyPr wrap="square" lIns="0" tIns="0" rIns="0" bIns="0" rtlCol="0" anchor="ctr"/>
          <a:lstStyle/>
          <a:p>
            <a:pPr marL="0" indent="0">
              <a:buNone/>
            </a:pPr>
            <a:r>
              <a:rPr lang="en-US" sz="1200" b="1" kern="0" spc="100" dirty="0">
                <a:solidFill>
                  <a:srgbClr val="CFE8F0"/>
                </a:solidFill>
                <a:latin typeface="Calibri" pitchFamily="34" charset="0"/>
                <a:ea typeface="Calibri" pitchFamily="34" charset="-122"/>
                <a:cs typeface="Calibri" pitchFamily="34" charset="-120"/>
              </a:rPr>
              <a:t>INGEST</a:t>
            </a:r>
            <a:endParaRPr lang="en-US" sz="1200" dirty="0"/>
          </a:p>
        </p:txBody>
      </p:sp>
      <p:sp>
        <p:nvSpPr>
          <p:cNvPr id="15" name="Text 13"/>
          <p:cNvSpPr txBox="1"/>
          <p:nvPr/>
        </p:nvSpPr>
        <p:spPr>
          <a:xfrm>
            <a:off x="1600200" y="2880360"/>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Every signal lands in a durable queue</a:t>
            </a:r>
            <a:endParaRPr lang="en-US" sz="1250" dirty="0"/>
          </a:p>
        </p:txBody>
      </p:sp>
      <p:sp>
        <p:nvSpPr>
          <p:cNvPr id="16" name="Shape 14"/>
          <p:cNvSpPr/>
          <p:nvPr/>
        </p:nvSpPr>
        <p:spPr>
          <a:xfrm>
            <a:off x="8001000" y="2532888"/>
            <a:ext cx="3611880" cy="749808"/>
          </a:xfrm>
          <a:prstGeom prst="roundRect">
            <a:avLst>
              <a:gd name="adj" fmla="val 9756"/>
            </a:avLst>
          </a:prstGeom>
          <a:solidFill>
            <a:srgbClr val="065A82"/>
          </a:solidFill>
          <a:ln/>
        </p:spPr>
        <p:txBody>
          <a:bodyPr/>
          <a:lstStyle/>
          <a:p>
            <a:endParaRPr lang="en-US"/>
          </a:p>
        </p:txBody>
      </p:sp>
      <p:sp>
        <p:nvSpPr>
          <p:cNvPr id="17" name="Text 15"/>
          <p:cNvSpPr txBox="1"/>
          <p:nvPr/>
        </p:nvSpPr>
        <p:spPr>
          <a:xfrm>
            <a:off x="8138160" y="2532888"/>
            <a:ext cx="333756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Apache Kafka</a:t>
            </a:r>
            <a:endParaRPr lang="en-US" sz="1250" dirty="0"/>
          </a:p>
        </p:txBody>
      </p:sp>
      <p:sp>
        <p:nvSpPr>
          <p:cNvPr id="21" name="Text 19"/>
          <p:cNvSpPr txBox="1"/>
          <p:nvPr/>
        </p:nvSpPr>
        <p:spPr>
          <a:xfrm>
            <a:off x="1600200" y="3429000"/>
            <a:ext cx="5943600" cy="310896"/>
          </a:xfrm>
          <a:prstGeom prst="rect">
            <a:avLst/>
          </a:prstGeom>
          <a:noFill/>
          <a:ln/>
        </p:spPr>
        <p:txBody>
          <a:bodyPr wrap="square" lIns="0" tIns="0" rIns="0" bIns="0" rtlCol="0" anchor="ctr"/>
          <a:lstStyle/>
          <a:p>
            <a:r>
              <a:rPr lang="en-US" sz="1200" b="1" kern="0" spc="100" dirty="0">
                <a:solidFill>
                  <a:srgbClr val="CFE8F0"/>
                </a:solidFill>
                <a:latin typeface="Calibri" pitchFamily="34" charset="0"/>
                <a:cs typeface="Calibri" pitchFamily="34" charset="-120"/>
              </a:rPr>
              <a:t>PROCESSING LAYER</a:t>
            </a:r>
          </a:p>
        </p:txBody>
      </p:sp>
      <p:sp>
        <p:nvSpPr>
          <p:cNvPr id="22" name="Text 20"/>
          <p:cNvSpPr txBox="1"/>
          <p:nvPr/>
        </p:nvSpPr>
        <p:spPr>
          <a:xfrm>
            <a:off x="1600200" y="3721608"/>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Live processing — seconds, not hours</a:t>
            </a:r>
            <a:endParaRPr lang="en-US" sz="1250" dirty="0"/>
          </a:p>
        </p:txBody>
      </p:sp>
      <p:sp>
        <p:nvSpPr>
          <p:cNvPr id="24" name="Text 22"/>
          <p:cNvSpPr txBox="1"/>
          <p:nvPr/>
        </p:nvSpPr>
        <p:spPr>
          <a:xfrm>
            <a:off x="8138160" y="3374136"/>
            <a:ext cx="3337560" cy="749808"/>
          </a:xfrm>
          <a:prstGeom prst="rect">
            <a:avLst/>
          </a:prstGeom>
          <a:noFill/>
          <a:ln/>
        </p:spPr>
        <p:txBody>
          <a:bodyPr wrap="square" lIns="0" tIns="0" rIns="0" bIns="0" rtlCol="0" anchor="ctr"/>
          <a:lstStyle/>
          <a:p>
            <a:pPr marL="0" indent="0" algn="ctr">
              <a:buNone/>
            </a:pPr>
            <a:r>
              <a:rPr lang="en-US" sz="1250" b="1" dirty="0">
                <a:solidFill>
                  <a:srgbClr val="0B2E4A"/>
                </a:solidFill>
                <a:latin typeface="Calibri" pitchFamily="34" charset="0"/>
                <a:ea typeface="Calibri" pitchFamily="34" charset="-122"/>
                <a:cs typeface="Calibri" pitchFamily="34" charset="-120"/>
              </a:rPr>
              <a:t>Spark Structured Streaming</a:t>
            </a:r>
            <a:endParaRPr lang="en-US" sz="1250" dirty="0"/>
          </a:p>
        </p:txBody>
      </p:sp>
      <p:sp>
        <p:nvSpPr>
          <p:cNvPr id="25" name="Shape 23"/>
          <p:cNvSpPr/>
          <p:nvPr/>
        </p:nvSpPr>
        <p:spPr>
          <a:xfrm>
            <a:off x="548640" y="4215384"/>
            <a:ext cx="685800" cy="749808"/>
          </a:xfrm>
          <a:prstGeom prst="roundRect">
            <a:avLst>
              <a:gd name="adj" fmla="val 10667"/>
            </a:avLst>
          </a:prstGeom>
          <a:solidFill>
            <a:srgbClr val="1C7293"/>
          </a:solidFill>
          <a:ln/>
        </p:spPr>
        <p:txBody>
          <a:bodyPr/>
          <a:lstStyle/>
          <a:p>
            <a:endParaRPr lang="en-US"/>
          </a:p>
        </p:txBody>
      </p:sp>
      <p:sp>
        <p:nvSpPr>
          <p:cNvPr id="26" name="Text 24"/>
          <p:cNvSpPr txBox="1"/>
          <p:nvPr/>
        </p:nvSpPr>
        <p:spPr>
          <a:xfrm>
            <a:off x="548640" y="4215384"/>
            <a:ext cx="68580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7" name="Shape 25"/>
          <p:cNvSpPr/>
          <p:nvPr/>
        </p:nvSpPr>
        <p:spPr>
          <a:xfrm>
            <a:off x="1371600" y="4215384"/>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a:p>
        </p:txBody>
      </p:sp>
      <p:sp>
        <p:nvSpPr>
          <p:cNvPr id="28" name="Text 26"/>
          <p:cNvSpPr txBox="1"/>
          <p:nvPr/>
        </p:nvSpPr>
        <p:spPr>
          <a:xfrm>
            <a:off x="1600200" y="4270248"/>
            <a:ext cx="5943600" cy="310896"/>
          </a:xfrm>
          <a:prstGeom prst="rect">
            <a:avLst/>
          </a:prstGeom>
          <a:noFill/>
          <a:ln/>
        </p:spPr>
        <p:txBody>
          <a:bodyPr wrap="square" lIns="0" tIns="0" rIns="0" bIns="0" rtlCol="0" anchor="ctr"/>
          <a:lstStyle/>
          <a:p>
            <a:pPr marL="0" indent="0">
              <a:buNone/>
            </a:pPr>
            <a:r>
              <a:rPr lang="en-US" sz="1200" b="1" kern="0" spc="100" dirty="0">
                <a:solidFill>
                  <a:srgbClr val="CFE8F0"/>
                </a:solidFill>
                <a:latin typeface="Calibri" pitchFamily="34" charset="0"/>
                <a:ea typeface="Calibri" pitchFamily="34" charset="-122"/>
                <a:cs typeface="Calibri" pitchFamily="34" charset="-120"/>
              </a:rPr>
              <a:t>BATCH / STORAGE</a:t>
            </a:r>
            <a:endParaRPr lang="en-US" sz="1200" dirty="0"/>
          </a:p>
        </p:txBody>
      </p:sp>
      <p:sp>
        <p:nvSpPr>
          <p:cNvPr id="29" name="Text 27"/>
          <p:cNvSpPr txBox="1"/>
          <p:nvPr/>
        </p:nvSpPr>
        <p:spPr>
          <a:xfrm>
            <a:off x="1600200" y="4562856"/>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Every raw signal saved forever</a:t>
            </a:r>
            <a:endParaRPr lang="en-US" sz="1250" dirty="0"/>
          </a:p>
        </p:txBody>
      </p:sp>
      <p:sp>
        <p:nvSpPr>
          <p:cNvPr id="30" name="Shape 28"/>
          <p:cNvSpPr/>
          <p:nvPr/>
        </p:nvSpPr>
        <p:spPr>
          <a:xfrm>
            <a:off x="8001000" y="4215384"/>
            <a:ext cx="3611880" cy="749808"/>
          </a:xfrm>
          <a:prstGeom prst="roundRect">
            <a:avLst>
              <a:gd name="adj" fmla="val 9756"/>
            </a:avLst>
          </a:prstGeom>
          <a:solidFill>
            <a:srgbClr val="065A82"/>
          </a:solidFill>
          <a:ln/>
        </p:spPr>
        <p:txBody>
          <a:bodyPr/>
          <a:lstStyle/>
          <a:p>
            <a:endParaRPr lang="en-US"/>
          </a:p>
        </p:txBody>
      </p:sp>
      <p:sp>
        <p:nvSpPr>
          <p:cNvPr id="31" name="Text 29"/>
          <p:cNvSpPr txBox="1"/>
          <p:nvPr/>
        </p:nvSpPr>
        <p:spPr>
          <a:xfrm>
            <a:off x="8138160" y="4215384"/>
            <a:ext cx="333756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HDFS Data Lake</a:t>
            </a:r>
            <a:endParaRPr lang="en-US" sz="1250" dirty="0"/>
          </a:p>
        </p:txBody>
      </p:sp>
      <p:sp>
        <p:nvSpPr>
          <p:cNvPr id="32" name="Shape 30"/>
          <p:cNvSpPr/>
          <p:nvPr/>
        </p:nvSpPr>
        <p:spPr>
          <a:xfrm>
            <a:off x="548640" y="5056632"/>
            <a:ext cx="685800" cy="749808"/>
          </a:xfrm>
          <a:prstGeom prst="roundRect">
            <a:avLst>
              <a:gd name="adj" fmla="val 10667"/>
            </a:avLst>
          </a:prstGeom>
          <a:solidFill>
            <a:srgbClr val="1C7293"/>
          </a:solidFill>
          <a:ln/>
        </p:spPr>
        <p:txBody>
          <a:bodyPr/>
          <a:lstStyle/>
          <a:p>
            <a:endParaRPr lang="en-US"/>
          </a:p>
        </p:txBody>
      </p:sp>
      <p:sp>
        <p:nvSpPr>
          <p:cNvPr id="33" name="Text 31"/>
          <p:cNvSpPr txBox="1"/>
          <p:nvPr/>
        </p:nvSpPr>
        <p:spPr>
          <a:xfrm>
            <a:off x="548640" y="5056632"/>
            <a:ext cx="68580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4" name="Shape 32"/>
          <p:cNvSpPr/>
          <p:nvPr/>
        </p:nvSpPr>
        <p:spPr>
          <a:xfrm>
            <a:off x="1371600" y="5056632"/>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a:p>
        </p:txBody>
      </p:sp>
      <p:sp>
        <p:nvSpPr>
          <p:cNvPr id="35" name="Text 33"/>
          <p:cNvSpPr txBox="1"/>
          <p:nvPr/>
        </p:nvSpPr>
        <p:spPr>
          <a:xfrm>
            <a:off x="1600200" y="5111496"/>
            <a:ext cx="5943600" cy="310896"/>
          </a:xfrm>
          <a:prstGeom prst="rect">
            <a:avLst/>
          </a:prstGeom>
          <a:noFill/>
          <a:ln/>
        </p:spPr>
        <p:txBody>
          <a:bodyPr wrap="square" lIns="0" tIns="0" rIns="0" bIns="0" rtlCol="0" anchor="ctr"/>
          <a:lstStyle/>
          <a:p>
            <a:r>
              <a:rPr lang="en-US" sz="1200" b="1" kern="0" spc="100" dirty="0">
                <a:solidFill>
                  <a:srgbClr val="CFE8F0"/>
                </a:solidFill>
                <a:latin typeface="Calibri" pitchFamily="34" charset="0"/>
                <a:cs typeface="Calibri" pitchFamily="34" charset="-120"/>
              </a:rPr>
              <a:t>ML model</a:t>
            </a:r>
          </a:p>
        </p:txBody>
      </p:sp>
      <p:sp>
        <p:nvSpPr>
          <p:cNvPr id="36" name="Text 34"/>
          <p:cNvSpPr txBox="1"/>
          <p:nvPr/>
        </p:nvSpPr>
        <p:spPr>
          <a:xfrm>
            <a:off x="1600200" y="5404104"/>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cs typeface="Calibri" pitchFamily="34" charset="-120"/>
              </a:rPr>
              <a:t>K-means</a:t>
            </a:r>
          </a:p>
        </p:txBody>
      </p:sp>
      <p:sp>
        <p:nvSpPr>
          <p:cNvPr id="37" name="Shape 35"/>
          <p:cNvSpPr/>
          <p:nvPr/>
        </p:nvSpPr>
        <p:spPr>
          <a:xfrm>
            <a:off x="8001000" y="5056632"/>
            <a:ext cx="3611880" cy="749808"/>
          </a:xfrm>
          <a:prstGeom prst="roundRect">
            <a:avLst>
              <a:gd name="adj" fmla="val 9756"/>
            </a:avLst>
          </a:prstGeom>
          <a:solidFill>
            <a:srgbClr val="065A82"/>
          </a:solidFill>
          <a:ln/>
        </p:spPr>
        <p:txBody>
          <a:bodyPr/>
          <a:lstStyle/>
          <a:p>
            <a:endParaRPr lang="en-US"/>
          </a:p>
        </p:txBody>
      </p:sp>
      <p:sp>
        <p:nvSpPr>
          <p:cNvPr id="38" name="Text 36"/>
          <p:cNvSpPr txBox="1"/>
          <p:nvPr/>
        </p:nvSpPr>
        <p:spPr>
          <a:xfrm>
            <a:off x="8138160" y="5056632"/>
            <a:ext cx="333756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cs typeface="Calibri" pitchFamily="34" charset="-120"/>
              </a:rPr>
              <a:t>Spark ml</a:t>
            </a:r>
            <a:endParaRPr lang="en-US" sz="1250" dirty="0"/>
          </a:p>
        </p:txBody>
      </p:sp>
      <p:sp>
        <p:nvSpPr>
          <p:cNvPr id="39" name="Shape 37"/>
          <p:cNvSpPr/>
          <p:nvPr/>
        </p:nvSpPr>
        <p:spPr>
          <a:xfrm>
            <a:off x="548640" y="5897880"/>
            <a:ext cx="685800" cy="749808"/>
          </a:xfrm>
          <a:prstGeom prst="roundRect">
            <a:avLst>
              <a:gd name="adj" fmla="val 10667"/>
            </a:avLst>
          </a:prstGeom>
          <a:solidFill>
            <a:srgbClr val="1C7293"/>
          </a:solidFill>
          <a:ln/>
        </p:spPr>
        <p:txBody>
          <a:bodyPr/>
          <a:lstStyle/>
          <a:p>
            <a:endParaRPr lang="en-US"/>
          </a:p>
        </p:txBody>
      </p:sp>
      <p:sp>
        <p:nvSpPr>
          <p:cNvPr id="40" name="Text 38"/>
          <p:cNvSpPr txBox="1"/>
          <p:nvPr/>
        </p:nvSpPr>
        <p:spPr>
          <a:xfrm>
            <a:off x="548640" y="5897880"/>
            <a:ext cx="68580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1" name="Shape 39"/>
          <p:cNvSpPr/>
          <p:nvPr/>
        </p:nvSpPr>
        <p:spPr>
          <a:xfrm>
            <a:off x="1371600" y="5897880"/>
            <a:ext cx="6400800" cy="749808"/>
          </a:xfrm>
          <a:prstGeom prst="roundRect">
            <a:avLst>
              <a:gd name="adj" fmla="val 9756"/>
            </a:avLst>
          </a:prstGeom>
          <a:solidFill>
            <a:srgbClr val="FFFFFF">
              <a:alpha val="8000"/>
            </a:srgbClr>
          </a:solidFill>
          <a:ln w="12700">
            <a:solidFill>
              <a:srgbClr val="3E5A6E"/>
            </a:solidFill>
            <a:prstDash val="solid"/>
          </a:ln>
        </p:spPr>
        <p:txBody>
          <a:bodyPr/>
          <a:lstStyle/>
          <a:p>
            <a:endParaRPr lang="en-US"/>
          </a:p>
        </p:txBody>
      </p:sp>
      <p:sp>
        <p:nvSpPr>
          <p:cNvPr id="42" name="Text 40"/>
          <p:cNvSpPr txBox="1"/>
          <p:nvPr/>
        </p:nvSpPr>
        <p:spPr>
          <a:xfrm>
            <a:off x="1600200" y="5952744"/>
            <a:ext cx="5943600" cy="310896"/>
          </a:xfrm>
          <a:prstGeom prst="rect">
            <a:avLst/>
          </a:prstGeom>
          <a:noFill/>
          <a:ln/>
        </p:spPr>
        <p:txBody>
          <a:bodyPr wrap="square" lIns="0" tIns="0" rIns="0" bIns="0" rtlCol="0" anchor="ctr"/>
          <a:lstStyle/>
          <a:p>
            <a:pPr marL="0" indent="0">
              <a:buNone/>
            </a:pPr>
            <a:r>
              <a:rPr lang="en-US" sz="1200" b="1" kern="0" spc="100" dirty="0">
                <a:solidFill>
                  <a:srgbClr val="CFE8F0"/>
                </a:solidFill>
                <a:latin typeface="Calibri" pitchFamily="34" charset="0"/>
                <a:ea typeface="Calibri" pitchFamily="34" charset="-122"/>
                <a:cs typeface="Calibri" pitchFamily="34" charset="-120"/>
              </a:rPr>
              <a:t>SERVE &amp; VISUALIZE</a:t>
            </a:r>
            <a:endParaRPr lang="en-US" sz="1200" dirty="0"/>
          </a:p>
        </p:txBody>
      </p:sp>
      <p:sp>
        <p:nvSpPr>
          <p:cNvPr id="43" name="Text 41"/>
          <p:cNvSpPr txBox="1"/>
          <p:nvPr/>
        </p:nvSpPr>
        <p:spPr>
          <a:xfrm>
            <a:off x="1600200" y="6245352"/>
            <a:ext cx="5943600" cy="32918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Dashboards &amp; maps for people to use</a:t>
            </a:r>
            <a:endParaRPr lang="en-US" sz="1250" dirty="0"/>
          </a:p>
        </p:txBody>
      </p:sp>
      <p:sp>
        <p:nvSpPr>
          <p:cNvPr id="44" name="Shape 42"/>
          <p:cNvSpPr/>
          <p:nvPr/>
        </p:nvSpPr>
        <p:spPr>
          <a:xfrm>
            <a:off x="8001000" y="5897880"/>
            <a:ext cx="3611880" cy="749808"/>
          </a:xfrm>
          <a:prstGeom prst="roundRect">
            <a:avLst>
              <a:gd name="adj" fmla="val 9756"/>
            </a:avLst>
          </a:prstGeom>
          <a:solidFill>
            <a:srgbClr val="065A82"/>
          </a:solidFill>
          <a:ln/>
        </p:spPr>
        <p:txBody>
          <a:bodyPr/>
          <a:lstStyle/>
          <a:p>
            <a:endParaRPr lang="en-US"/>
          </a:p>
        </p:txBody>
      </p:sp>
      <p:sp>
        <p:nvSpPr>
          <p:cNvPr id="45" name="Text 43"/>
          <p:cNvSpPr txBox="1"/>
          <p:nvPr/>
        </p:nvSpPr>
        <p:spPr>
          <a:xfrm>
            <a:off x="8138160" y="5897880"/>
            <a:ext cx="333756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Zeppelin · Superset</a:t>
            </a:r>
            <a:endParaRPr lang="en-US" sz="1250" dirty="0"/>
          </a:p>
        </p:txBody>
      </p:sp>
      <p:sp>
        <p:nvSpPr>
          <p:cNvPr id="47" name="Text 45"/>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8FAAB8"/>
                </a:solidFill>
                <a:latin typeface="Calibri" pitchFamily="34" charset="0"/>
                <a:ea typeface="Calibri" pitchFamily="34" charset="-122"/>
                <a:cs typeface="Calibri" pitchFamily="34" charset="-120"/>
              </a:rPr>
              <a:t>04</a:t>
            </a:r>
            <a:endParaRPr lang="en-US" sz="1000" dirty="0"/>
          </a:p>
        </p:txBody>
      </p:sp>
      <p:sp>
        <p:nvSpPr>
          <p:cNvPr id="50" name="Shape 9">
            <a:extLst>
              <a:ext uri="{FF2B5EF4-FFF2-40B4-BE49-F238E27FC236}">
                <a16:creationId xmlns:a16="http://schemas.microsoft.com/office/drawing/2014/main" id="{D5044A36-B1D8-D323-A336-4E2C7AC1B99D}"/>
              </a:ext>
            </a:extLst>
          </p:cNvPr>
          <p:cNvSpPr/>
          <p:nvPr/>
        </p:nvSpPr>
        <p:spPr>
          <a:xfrm>
            <a:off x="548640" y="3375060"/>
            <a:ext cx="685800" cy="749808"/>
          </a:xfrm>
          <a:prstGeom prst="roundRect">
            <a:avLst>
              <a:gd name="adj" fmla="val 10667"/>
            </a:avLst>
          </a:prstGeom>
          <a:solidFill>
            <a:srgbClr val="1C7293"/>
          </a:solidFill>
          <a:ln/>
        </p:spPr>
        <p:txBody>
          <a:bodyPr/>
          <a:lstStyle/>
          <a:p>
            <a:endParaRPr lang="en-US"/>
          </a:p>
        </p:txBody>
      </p:sp>
      <p:sp>
        <p:nvSpPr>
          <p:cNvPr id="51" name="Text 10">
            <a:extLst>
              <a:ext uri="{FF2B5EF4-FFF2-40B4-BE49-F238E27FC236}">
                <a16:creationId xmlns:a16="http://schemas.microsoft.com/office/drawing/2014/main" id="{D0A6A88B-46A6-1D3D-B0F3-A9E2A612D2AC}"/>
              </a:ext>
            </a:extLst>
          </p:cNvPr>
          <p:cNvSpPr txBox="1"/>
          <p:nvPr/>
        </p:nvSpPr>
        <p:spPr>
          <a:xfrm>
            <a:off x="548640" y="3351276"/>
            <a:ext cx="685800" cy="749808"/>
          </a:xfrm>
          <a:prstGeom prst="rect">
            <a:avLst/>
          </a:prstGeom>
          <a:noFill/>
          <a:ln/>
        </p:spPr>
        <p:txBody>
          <a:bodyPr wrap="square" lIns="0" tIns="0" rIns="0" bIns="0" rtlCol="0" anchor="ctr"/>
          <a:lstStyle/>
          <a:p>
            <a:pPr algn="ctr"/>
            <a:r>
              <a:rPr lang="ar-EG" sz="2200" b="1" dirty="0">
                <a:solidFill>
                  <a:srgbClr val="FFFFFF"/>
                </a:solidFill>
                <a:latin typeface="Cambria" pitchFamily="34" charset="0"/>
                <a:ea typeface="Cambria" pitchFamily="34" charset="-122"/>
              </a:rPr>
              <a:t>2</a:t>
            </a:r>
            <a:endParaRPr lang="en-US" sz="2200" b="1" dirty="0">
              <a:solidFill>
                <a:srgbClr val="FFFFFF"/>
              </a:solidFill>
              <a:latin typeface="Cambria" pitchFamily="34" charset="0"/>
              <a:ea typeface="Cambria" pitchFamily="34" charset="-122"/>
            </a:endParaRPr>
          </a:p>
        </p:txBody>
      </p:sp>
      <p:sp>
        <p:nvSpPr>
          <p:cNvPr id="53" name="Shape 14">
            <a:extLst>
              <a:ext uri="{FF2B5EF4-FFF2-40B4-BE49-F238E27FC236}">
                <a16:creationId xmlns:a16="http://schemas.microsoft.com/office/drawing/2014/main" id="{18B4E65B-E290-166B-3921-66C4E6E53028}"/>
              </a:ext>
            </a:extLst>
          </p:cNvPr>
          <p:cNvSpPr/>
          <p:nvPr/>
        </p:nvSpPr>
        <p:spPr>
          <a:xfrm>
            <a:off x="8001000" y="3355848"/>
            <a:ext cx="3611880" cy="749808"/>
          </a:xfrm>
          <a:prstGeom prst="roundRect">
            <a:avLst>
              <a:gd name="adj" fmla="val 9756"/>
            </a:avLst>
          </a:prstGeom>
          <a:solidFill>
            <a:srgbClr val="065A82"/>
          </a:solidFill>
          <a:ln/>
        </p:spPr>
        <p:txBody>
          <a:bodyPr/>
          <a:lstStyle/>
          <a:p>
            <a:pPr algn="ctr"/>
            <a:endParaRPr lang="ar-EG" sz="1250" b="1" dirty="0">
              <a:solidFill>
                <a:srgbClr val="FFFFFF"/>
              </a:solidFill>
              <a:latin typeface="Calibri" pitchFamily="34" charset="0"/>
              <a:cs typeface="Calibri" pitchFamily="34" charset="-120"/>
            </a:endParaRPr>
          </a:p>
          <a:p>
            <a:pPr algn="ctr"/>
            <a:r>
              <a:rPr lang="en-US" sz="1250" b="1" dirty="0">
                <a:solidFill>
                  <a:srgbClr val="FFFFFF"/>
                </a:solidFill>
                <a:latin typeface="Calibri" pitchFamily="34" charset="0"/>
                <a:cs typeface="Calibri" pitchFamily="34" charset="-120"/>
              </a:rPr>
              <a:t>Spark Structured Streaming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E4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ENGINEERING DEEP-DIVE</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One CPU Core to Four: Fixing the Load Time</a:t>
            </a:r>
            <a:endParaRPr lang="en-US" sz="3200" dirty="0"/>
          </a:p>
        </p:txBody>
      </p:sp>
      <p:sp>
        <p:nvSpPr>
          <p:cNvPr id="4" name="Text 2"/>
          <p:cNvSpPr txBox="1"/>
          <p:nvPr/>
        </p:nvSpPr>
        <p:spPr>
          <a:xfrm>
            <a:off x="548640" y="1417320"/>
            <a:ext cx="7772400" cy="320040"/>
          </a:xfrm>
          <a:prstGeom prst="rect">
            <a:avLst/>
          </a:prstGeom>
          <a:noFill/>
          <a:ln/>
        </p:spPr>
        <p:txBody>
          <a:bodyPr wrap="square" lIns="0" tIns="0" rIns="0" bIns="0" rtlCol="0" anchor="ctr"/>
          <a:lstStyle/>
          <a:p>
            <a:pPr marL="0" indent="0">
              <a:buNone/>
            </a:pPr>
            <a:r>
              <a:rPr lang="en-US" sz="1200" b="1" dirty="0">
                <a:solidFill>
                  <a:srgbClr val="CFE8F0"/>
                </a:solidFill>
                <a:latin typeface="Calibri" pitchFamily="34" charset="0"/>
                <a:ea typeface="Calibri" pitchFamily="34" charset="-122"/>
                <a:cs typeface="Calibri" pitchFamily="34" charset="-120"/>
              </a:rPr>
              <a:t>Topic  raw_ais_positions   ·   3 partitions   ·   1 broker</a:t>
            </a:r>
            <a:endParaRPr lang="en-US" sz="1200" dirty="0"/>
          </a:p>
        </p:txBody>
      </p:sp>
      <p:sp>
        <p:nvSpPr>
          <p:cNvPr id="5" name="Text 3"/>
          <p:cNvSpPr txBox="1"/>
          <p:nvPr/>
        </p:nvSpPr>
        <p:spPr>
          <a:xfrm>
            <a:off x="548640" y="1783080"/>
            <a:ext cx="11064240" cy="548640"/>
          </a:xfrm>
          <a:prstGeom prst="rect">
            <a:avLst/>
          </a:prstGeom>
          <a:noFill/>
          <a:ln/>
        </p:spPr>
        <p:txBody>
          <a:bodyPr wrap="square" lIns="0" tIns="0" rIns="0" bIns="0" rtlCol="0" anchor="ctr"/>
          <a:lstStyle/>
          <a:p>
            <a:pPr marL="0" indent="0">
              <a:lnSpc>
                <a:spcPct val="120000"/>
              </a:lnSpc>
              <a:buNone/>
            </a:pPr>
            <a:r>
              <a:rPr lang="en-US" sz="1350" dirty="0">
                <a:solidFill>
                  <a:srgbClr val="CFE8F0"/>
                </a:solidFill>
                <a:latin typeface="Calibri" pitchFamily="34" charset="0"/>
                <a:ea typeface="Calibri" pitchFamily="34" charset="-122"/>
                <a:cs typeface="Calibri" pitchFamily="34" charset="-120"/>
              </a:rPr>
              <a:t>Loading 46.5M historical AIS records first took 3–4 hours. The bottleneck was never Kafka — it was single-threaded Python leaving 3 of 4 CPU cores idle.</a:t>
            </a:r>
            <a:endParaRPr lang="en-US" sz="1350" dirty="0"/>
          </a:p>
        </p:txBody>
      </p:sp>
      <p:sp>
        <p:nvSpPr>
          <p:cNvPr id="6" name="Shape 4"/>
          <p:cNvSpPr/>
          <p:nvPr/>
        </p:nvSpPr>
        <p:spPr>
          <a:xfrm>
            <a:off x="548640" y="2514600"/>
            <a:ext cx="5349240" cy="3246120"/>
          </a:xfrm>
          <a:prstGeom prst="roundRect">
            <a:avLst>
              <a:gd name="adj" fmla="val 2817"/>
            </a:avLst>
          </a:prstGeom>
          <a:solidFill>
            <a:srgbClr val="FFFFFF">
              <a:alpha val="10000"/>
            </a:srgbClr>
          </a:solidFill>
          <a:ln w="19050">
            <a:solidFill>
              <a:srgbClr val="C0392B"/>
            </a:solidFill>
            <a:prstDash val="solid"/>
          </a:ln>
        </p:spPr>
        <p:txBody>
          <a:bodyPr/>
          <a:lstStyle/>
          <a:p>
            <a:endParaRPr lang="en-US"/>
          </a:p>
        </p:txBody>
      </p:sp>
      <p:sp>
        <p:nvSpPr>
          <p:cNvPr id="7" name="Text 5"/>
          <p:cNvSpPr txBox="1"/>
          <p:nvPr/>
        </p:nvSpPr>
        <p:spPr>
          <a:xfrm>
            <a:off x="822960" y="2715768"/>
            <a:ext cx="4800600" cy="365760"/>
          </a:xfrm>
          <a:prstGeom prst="rect">
            <a:avLst/>
          </a:prstGeom>
          <a:noFill/>
          <a:ln/>
        </p:spPr>
        <p:txBody>
          <a:bodyPr wrap="square" lIns="0" tIns="0" rIns="0" bIns="0" rtlCol="0" anchor="ctr"/>
          <a:lstStyle/>
          <a:p>
            <a:pPr marL="0" indent="0">
              <a:buNone/>
            </a:pPr>
            <a:r>
              <a:rPr lang="en-US" sz="1300" b="1" kern="0" spc="100" dirty="0">
                <a:solidFill>
                  <a:srgbClr val="FF8A80"/>
                </a:solidFill>
                <a:latin typeface="Calibri" pitchFamily="34" charset="0"/>
                <a:ea typeface="Calibri" pitchFamily="34" charset="-122"/>
                <a:cs typeface="Calibri" pitchFamily="34" charset="-120"/>
              </a:rPr>
              <a:t>BEFORE — Single Process</a:t>
            </a:r>
            <a:endParaRPr lang="en-US" sz="1300" dirty="0"/>
          </a:p>
        </p:txBody>
      </p:sp>
      <p:sp>
        <p:nvSpPr>
          <p:cNvPr id="8" name="Shape 6"/>
          <p:cNvSpPr/>
          <p:nvPr/>
        </p:nvSpPr>
        <p:spPr>
          <a:xfrm>
            <a:off x="868680" y="3246120"/>
            <a:ext cx="621792" cy="621792"/>
          </a:xfrm>
          <a:prstGeom prst="ellipse">
            <a:avLst/>
          </a:prstGeom>
          <a:solidFill>
            <a:srgbClr val="1C7293"/>
          </a:solidFill>
          <a:ln/>
        </p:spPr>
        <p:txBody>
          <a:bodyPr/>
          <a:lstStyle/>
          <a:p>
            <a:endParaRPr lang="en-US"/>
          </a:p>
        </p:txBody>
      </p:sp>
      <p:sp>
        <p:nvSpPr>
          <p:cNvPr id="9" name="Text 7"/>
          <p:cNvSpPr txBox="1"/>
          <p:nvPr/>
        </p:nvSpPr>
        <p:spPr>
          <a:xfrm>
            <a:off x="868680" y="3246120"/>
            <a:ext cx="621792" cy="621792"/>
          </a:xfrm>
          <a:prstGeom prst="rect">
            <a:avLst/>
          </a:prstGeom>
          <a:noFill/>
          <a:ln/>
        </p:spPr>
        <p:txBody>
          <a:bodyPr wrap="square" lIns="0" tIns="0" rIns="0" bIns="0" rtlCol="0" anchor="ctr"/>
          <a:lstStyle/>
          <a:p>
            <a:pPr marL="0" indent="0" algn="ctr">
              <a:buNone/>
            </a:pPr>
            <a:r>
              <a:rPr lang="en-US" sz="1768" b="1" dirty="0">
                <a:solidFill>
                  <a:srgbClr val="FFFFFF"/>
                </a:solidFill>
                <a:latin typeface="Calibri" pitchFamily="34" charset="0"/>
                <a:ea typeface="Calibri" pitchFamily="34" charset="-122"/>
                <a:cs typeface="Calibri" pitchFamily="34" charset="-120"/>
              </a:rPr>
              <a:t>P1</a:t>
            </a:r>
            <a:endParaRPr lang="en-US" sz="1768" dirty="0"/>
          </a:p>
        </p:txBody>
      </p:sp>
      <p:sp>
        <p:nvSpPr>
          <p:cNvPr id="10" name="Shape 8"/>
          <p:cNvSpPr/>
          <p:nvPr/>
        </p:nvSpPr>
        <p:spPr>
          <a:xfrm>
            <a:off x="1746504" y="3246120"/>
            <a:ext cx="621792" cy="621792"/>
          </a:xfrm>
          <a:prstGeom prst="ellipse">
            <a:avLst/>
          </a:prstGeom>
          <a:solidFill>
            <a:srgbClr val="FFFFFF">
              <a:alpha val="15000"/>
            </a:srgbClr>
          </a:solidFill>
          <a:ln w="12700">
            <a:solidFill>
              <a:srgbClr val="FFFFFF">
                <a:alpha val="60000"/>
              </a:srgbClr>
            </a:solidFill>
            <a:prstDash val="dash"/>
          </a:ln>
        </p:spPr>
        <p:txBody>
          <a:bodyPr/>
          <a:lstStyle/>
          <a:p>
            <a:endParaRPr lang="en-US"/>
          </a:p>
        </p:txBody>
      </p:sp>
      <p:sp>
        <p:nvSpPr>
          <p:cNvPr id="11" name="Text 9"/>
          <p:cNvSpPr txBox="1"/>
          <p:nvPr/>
        </p:nvSpPr>
        <p:spPr>
          <a:xfrm>
            <a:off x="1746504" y="3246120"/>
            <a:ext cx="621792" cy="621792"/>
          </a:xfrm>
          <a:prstGeom prst="rect">
            <a:avLst/>
          </a:prstGeom>
          <a:noFill/>
          <a:ln/>
        </p:spPr>
        <p:txBody>
          <a:bodyPr wrap="square" lIns="0" tIns="0" rIns="0" bIns="0" rtlCol="0" anchor="ctr"/>
          <a:lstStyle/>
          <a:p>
            <a:pPr marL="0" indent="0" algn="ctr">
              <a:buNone/>
            </a:pPr>
            <a:r>
              <a:rPr lang="en-US" sz="1000" i="1" dirty="0">
                <a:solidFill>
                  <a:srgbClr val="CFE8F0"/>
                </a:solidFill>
                <a:latin typeface="Calibri" pitchFamily="34" charset="0"/>
                <a:ea typeface="Calibri" pitchFamily="34" charset="-122"/>
                <a:cs typeface="Calibri" pitchFamily="34" charset="-120"/>
              </a:rPr>
              <a:t>idle</a:t>
            </a:r>
            <a:endParaRPr lang="en-US" sz="1000" dirty="0"/>
          </a:p>
        </p:txBody>
      </p:sp>
      <p:sp>
        <p:nvSpPr>
          <p:cNvPr id="12" name="Shape 10"/>
          <p:cNvSpPr/>
          <p:nvPr/>
        </p:nvSpPr>
        <p:spPr>
          <a:xfrm>
            <a:off x="2624328" y="3246120"/>
            <a:ext cx="621792" cy="621792"/>
          </a:xfrm>
          <a:prstGeom prst="ellipse">
            <a:avLst/>
          </a:prstGeom>
          <a:solidFill>
            <a:srgbClr val="FFFFFF">
              <a:alpha val="15000"/>
            </a:srgbClr>
          </a:solidFill>
          <a:ln w="12700">
            <a:solidFill>
              <a:srgbClr val="FFFFFF">
                <a:alpha val="60000"/>
              </a:srgbClr>
            </a:solidFill>
            <a:prstDash val="dash"/>
          </a:ln>
        </p:spPr>
        <p:txBody>
          <a:bodyPr/>
          <a:lstStyle/>
          <a:p>
            <a:endParaRPr lang="en-US"/>
          </a:p>
        </p:txBody>
      </p:sp>
      <p:sp>
        <p:nvSpPr>
          <p:cNvPr id="13" name="Text 11"/>
          <p:cNvSpPr txBox="1"/>
          <p:nvPr/>
        </p:nvSpPr>
        <p:spPr>
          <a:xfrm>
            <a:off x="2624328" y="3246120"/>
            <a:ext cx="621792" cy="621792"/>
          </a:xfrm>
          <a:prstGeom prst="rect">
            <a:avLst/>
          </a:prstGeom>
          <a:noFill/>
          <a:ln/>
        </p:spPr>
        <p:txBody>
          <a:bodyPr wrap="square" lIns="0" tIns="0" rIns="0" bIns="0" rtlCol="0" anchor="ctr"/>
          <a:lstStyle/>
          <a:p>
            <a:pPr marL="0" indent="0" algn="ctr">
              <a:buNone/>
            </a:pPr>
            <a:r>
              <a:rPr lang="en-US" sz="1000" i="1" dirty="0">
                <a:solidFill>
                  <a:srgbClr val="CFE8F0"/>
                </a:solidFill>
                <a:latin typeface="Calibri" pitchFamily="34" charset="0"/>
                <a:ea typeface="Calibri" pitchFamily="34" charset="-122"/>
                <a:cs typeface="Calibri" pitchFamily="34" charset="-120"/>
              </a:rPr>
              <a:t>idle</a:t>
            </a:r>
            <a:endParaRPr lang="en-US" sz="1000" dirty="0"/>
          </a:p>
        </p:txBody>
      </p:sp>
      <p:sp>
        <p:nvSpPr>
          <p:cNvPr id="14" name="Shape 12"/>
          <p:cNvSpPr/>
          <p:nvPr/>
        </p:nvSpPr>
        <p:spPr>
          <a:xfrm>
            <a:off x="3502152" y="3246120"/>
            <a:ext cx="621792" cy="621792"/>
          </a:xfrm>
          <a:prstGeom prst="ellipse">
            <a:avLst/>
          </a:prstGeom>
          <a:solidFill>
            <a:srgbClr val="FFFFFF">
              <a:alpha val="15000"/>
            </a:srgbClr>
          </a:solidFill>
          <a:ln w="12700">
            <a:solidFill>
              <a:srgbClr val="FFFFFF">
                <a:alpha val="60000"/>
              </a:srgbClr>
            </a:solidFill>
            <a:prstDash val="dash"/>
          </a:ln>
        </p:spPr>
        <p:txBody>
          <a:bodyPr/>
          <a:lstStyle/>
          <a:p>
            <a:endParaRPr lang="en-US"/>
          </a:p>
        </p:txBody>
      </p:sp>
      <p:sp>
        <p:nvSpPr>
          <p:cNvPr id="15" name="Text 13"/>
          <p:cNvSpPr txBox="1"/>
          <p:nvPr/>
        </p:nvSpPr>
        <p:spPr>
          <a:xfrm>
            <a:off x="3492424" y="3246120"/>
            <a:ext cx="621792" cy="621792"/>
          </a:xfrm>
          <a:prstGeom prst="rect">
            <a:avLst/>
          </a:prstGeom>
          <a:noFill/>
          <a:ln/>
        </p:spPr>
        <p:txBody>
          <a:bodyPr wrap="square" lIns="0" tIns="0" rIns="0" bIns="0" rtlCol="0" anchor="ctr"/>
          <a:lstStyle/>
          <a:p>
            <a:pPr marL="0" indent="0" algn="ctr">
              <a:buNone/>
            </a:pPr>
            <a:r>
              <a:rPr lang="en-US" sz="1000" i="1" dirty="0">
                <a:solidFill>
                  <a:srgbClr val="CFE8F0"/>
                </a:solidFill>
                <a:latin typeface="Calibri" pitchFamily="34" charset="0"/>
                <a:ea typeface="Calibri" pitchFamily="34" charset="-122"/>
                <a:cs typeface="Calibri" pitchFamily="34" charset="-120"/>
              </a:rPr>
              <a:t>idle</a:t>
            </a:r>
            <a:endParaRPr lang="en-US" sz="1000" dirty="0"/>
          </a:p>
        </p:txBody>
      </p:sp>
      <p:sp>
        <p:nvSpPr>
          <p:cNvPr id="16" name="Text 14"/>
          <p:cNvSpPr txBox="1"/>
          <p:nvPr/>
        </p:nvSpPr>
        <p:spPr>
          <a:xfrm>
            <a:off x="822960" y="4096512"/>
            <a:ext cx="4800600" cy="777240"/>
          </a:xfrm>
          <a:prstGeom prst="rect">
            <a:avLst/>
          </a:prstGeom>
          <a:noFill/>
          <a:ln/>
        </p:spPr>
        <p:txBody>
          <a:bodyPr wrap="square" lIns="0" tIns="0" rIns="0" bIns="0" rtlCol="0" anchor="ctr"/>
          <a:lstStyle/>
          <a:p>
            <a:pPr marL="0" indent="0">
              <a:lnSpc>
                <a:spcPct val="120000"/>
              </a:lnSpc>
              <a:buNone/>
            </a:pPr>
            <a:r>
              <a:rPr lang="en-US" sz="1200" dirty="0">
                <a:solidFill>
                  <a:srgbClr val="CFE8F0"/>
                </a:solidFill>
                <a:latin typeface="Calibri" pitchFamily="34" charset="0"/>
                <a:ea typeface="Calibri" pitchFamily="34" charset="-122"/>
                <a:cs typeface="Calibri" pitchFamily="34" charset="-120"/>
              </a:rPr>
              <a:t>Python's GIL locks CSV parsing, JSON serialization, and Kafka sends onto a single core — no matter how many cores the machine has.</a:t>
            </a:r>
            <a:endParaRPr lang="en-US" sz="1200" dirty="0"/>
          </a:p>
        </p:txBody>
      </p:sp>
      <p:sp>
        <p:nvSpPr>
          <p:cNvPr id="17" name="Text 15"/>
          <p:cNvSpPr txBox="1"/>
          <p:nvPr/>
        </p:nvSpPr>
        <p:spPr>
          <a:xfrm>
            <a:off x="822960" y="4983480"/>
            <a:ext cx="2286000" cy="365760"/>
          </a:xfrm>
          <a:prstGeom prst="rect">
            <a:avLst/>
          </a:prstGeom>
          <a:noFill/>
          <a:ln/>
        </p:spPr>
        <p:txBody>
          <a:bodyPr wrap="square" lIns="0" tIns="0" rIns="0" bIns="0" rtlCol="0" anchor="ctr"/>
          <a:lstStyle/>
          <a:p>
            <a:pPr marL="0" indent="0">
              <a:buNone/>
            </a:pPr>
            <a:r>
              <a:rPr lang="en-US" sz="1900" b="1" dirty="0">
                <a:solidFill>
                  <a:srgbClr val="FF8A80"/>
                </a:solidFill>
                <a:latin typeface="Cambria" pitchFamily="34" charset="0"/>
                <a:ea typeface="Cambria" pitchFamily="34" charset="-122"/>
                <a:cs typeface="Cambria" pitchFamily="34" charset="-120"/>
              </a:rPr>
              <a:t>~5,000–7,000</a:t>
            </a:r>
            <a:endParaRPr lang="en-US" sz="1900" dirty="0"/>
          </a:p>
        </p:txBody>
      </p:sp>
      <p:sp>
        <p:nvSpPr>
          <p:cNvPr id="18" name="Text 16"/>
          <p:cNvSpPr txBox="1"/>
          <p:nvPr/>
        </p:nvSpPr>
        <p:spPr>
          <a:xfrm>
            <a:off x="822960" y="5321808"/>
            <a:ext cx="2286000" cy="274320"/>
          </a:xfrm>
          <a:prstGeom prst="rect">
            <a:avLst/>
          </a:prstGeom>
          <a:noFill/>
          <a:ln/>
        </p:spPr>
        <p:txBody>
          <a:bodyPr wrap="square" lIns="0" tIns="0" rIns="0" bIns="0" rtlCol="0" anchor="ctr"/>
          <a:lstStyle/>
          <a:p>
            <a:pPr marL="0" indent="0">
              <a:buNone/>
            </a:pPr>
            <a:r>
              <a:rPr lang="en-US" sz="1050" dirty="0">
                <a:solidFill>
                  <a:srgbClr val="CFE8F0"/>
                </a:solidFill>
                <a:latin typeface="Calibri" pitchFamily="34" charset="0"/>
                <a:ea typeface="Calibri" pitchFamily="34" charset="-122"/>
                <a:cs typeface="Calibri" pitchFamily="34" charset="-120"/>
              </a:rPr>
              <a:t>rows / second</a:t>
            </a:r>
            <a:endParaRPr lang="en-US" sz="1050" dirty="0"/>
          </a:p>
        </p:txBody>
      </p:sp>
      <p:sp>
        <p:nvSpPr>
          <p:cNvPr id="19" name="Text 17"/>
          <p:cNvSpPr txBox="1"/>
          <p:nvPr/>
        </p:nvSpPr>
        <p:spPr>
          <a:xfrm>
            <a:off x="3337560" y="4983480"/>
            <a:ext cx="2286000" cy="365760"/>
          </a:xfrm>
          <a:prstGeom prst="rect">
            <a:avLst/>
          </a:prstGeom>
          <a:noFill/>
          <a:ln/>
        </p:spPr>
        <p:txBody>
          <a:bodyPr wrap="square" lIns="0" tIns="0" rIns="0" bIns="0" rtlCol="0" anchor="ctr"/>
          <a:lstStyle/>
          <a:p>
            <a:pPr marL="0" indent="0">
              <a:buNone/>
            </a:pPr>
            <a:r>
              <a:rPr lang="en-US" sz="1900" b="1" dirty="0">
                <a:solidFill>
                  <a:srgbClr val="FF8A80"/>
                </a:solidFill>
                <a:latin typeface="Cambria" pitchFamily="34" charset="0"/>
                <a:ea typeface="Cambria" pitchFamily="34" charset="-122"/>
                <a:cs typeface="Cambria" pitchFamily="34" charset="-120"/>
              </a:rPr>
              <a:t>3–4 hrs</a:t>
            </a:r>
            <a:endParaRPr lang="en-US" sz="1900" dirty="0"/>
          </a:p>
        </p:txBody>
      </p:sp>
      <p:sp>
        <p:nvSpPr>
          <p:cNvPr id="20" name="Text 18"/>
          <p:cNvSpPr txBox="1"/>
          <p:nvPr/>
        </p:nvSpPr>
        <p:spPr>
          <a:xfrm>
            <a:off x="3337560" y="5321808"/>
            <a:ext cx="2286000" cy="274320"/>
          </a:xfrm>
          <a:prstGeom prst="rect">
            <a:avLst/>
          </a:prstGeom>
          <a:noFill/>
          <a:ln/>
        </p:spPr>
        <p:txBody>
          <a:bodyPr wrap="square" lIns="0" tIns="0" rIns="0" bIns="0" rtlCol="0" anchor="ctr"/>
          <a:lstStyle/>
          <a:p>
            <a:pPr marL="0" indent="0">
              <a:buNone/>
            </a:pPr>
            <a:r>
              <a:rPr lang="en-US" sz="1050" dirty="0">
                <a:solidFill>
                  <a:srgbClr val="CFE8F0"/>
                </a:solidFill>
                <a:latin typeface="Calibri" pitchFamily="34" charset="0"/>
                <a:ea typeface="Calibri" pitchFamily="34" charset="-122"/>
                <a:cs typeface="Calibri" pitchFamily="34" charset="-120"/>
              </a:rPr>
              <a:t>to load all data</a:t>
            </a:r>
            <a:endParaRPr lang="en-US" sz="1050" dirty="0"/>
          </a:p>
        </p:txBody>
      </p:sp>
      <p:sp>
        <p:nvSpPr>
          <p:cNvPr id="21" name="Shape 19"/>
          <p:cNvSpPr/>
          <p:nvPr/>
        </p:nvSpPr>
        <p:spPr>
          <a:xfrm>
            <a:off x="6126480" y="2514600"/>
            <a:ext cx="5349240" cy="3246120"/>
          </a:xfrm>
          <a:prstGeom prst="roundRect">
            <a:avLst>
              <a:gd name="adj" fmla="val 2817"/>
            </a:avLst>
          </a:prstGeom>
          <a:solidFill>
            <a:srgbClr val="FFFFFF">
              <a:alpha val="10000"/>
            </a:srgbClr>
          </a:solidFill>
          <a:ln w="19050">
            <a:solidFill>
              <a:srgbClr val="F2A93B"/>
            </a:solidFill>
            <a:prstDash val="solid"/>
          </a:ln>
        </p:spPr>
        <p:txBody>
          <a:bodyPr/>
          <a:lstStyle/>
          <a:p>
            <a:endParaRPr lang="en-US"/>
          </a:p>
        </p:txBody>
      </p:sp>
      <p:sp>
        <p:nvSpPr>
          <p:cNvPr id="22" name="Text 20"/>
          <p:cNvSpPr txBox="1"/>
          <p:nvPr/>
        </p:nvSpPr>
        <p:spPr>
          <a:xfrm>
            <a:off x="6400800" y="2715768"/>
            <a:ext cx="4800600" cy="365760"/>
          </a:xfrm>
          <a:prstGeom prst="rect">
            <a:avLst/>
          </a:prstGeom>
          <a:noFill/>
          <a:ln/>
        </p:spPr>
        <p:txBody>
          <a:bodyPr wrap="square" lIns="0" tIns="0" rIns="0" bIns="0" rtlCol="0" anchor="ctr"/>
          <a:lstStyle/>
          <a:p>
            <a:pPr marL="0" indent="0">
              <a:buNone/>
            </a:pPr>
            <a:r>
              <a:rPr lang="en-US" sz="1300" b="1" kern="0" spc="100" dirty="0">
                <a:solidFill>
                  <a:srgbClr val="F2A93B"/>
                </a:solidFill>
                <a:latin typeface="Calibri" pitchFamily="34" charset="0"/>
                <a:ea typeface="Calibri" pitchFamily="34" charset="-122"/>
                <a:cs typeface="Calibri" pitchFamily="34" charset="-120"/>
              </a:rPr>
              <a:t>AFTER — multiprocessing</a:t>
            </a:r>
            <a:endParaRPr lang="en-US" sz="1300" dirty="0"/>
          </a:p>
        </p:txBody>
      </p:sp>
      <p:sp>
        <p:nvSpPr>
          <p:cNvPr id="23" name="Shape 21"/>
          <p:cNvSpPr/>
          <p:nvPr/>
        </p:nvSpPr>
        <p:spPr>
          <a:xfrm>
            <a:off x="6446520" y="3246120"/>
            <a:ext cx="621792" cy="621792"/>
          </a:xfrm>
          <a:prstGeom prst="ellipse">
            <a:avLst/>
          </a:prstGeom>
          <a:solidFill>
            <a:srgbClr val="065A82"/>
          </a:solidFill>
          <a:ln/>
        </p:spPr>
        <p:txBody>
          <a:bodyPr/>
          <a:lstStyle/>
          <a:p>
            <a:endParaRPr lang="en-US"/>
          </a:p>
        </p:txBody>
      </p:sp>
      <p:sp>
        <p:nvSpPr>
          <p:cNvPr id="24" name="Text 22"/>
          <p:cNvSpPr txBox="1"/>
          <p:nvPr/>
        </p:nvSpPr>
        <p:spPr>
          <a:xfrm>
            <a:off x="6446520" y="3246120"/>
            <a:ext cx="621792" cy="621792"/>
          </a:xfrm>
          <a:prstGeom prst="rect">
            <a:avLst/>
          </a:prstGeom>
          <a:noFill/>
          <a:ln/>
        </p:spPr>
        <p:txBody>
          <a:bodyPr wrap="square" lIns="0" tIns="0" rIns="0" bIns="0" rtlCol="0" anchor="ctr"/>
          <a:lstStyle/>
          <a:p>
            <a:pPr marL="0" indent="0" algn="ctr">
              <a:buNone/>
            </a:pPr>
            <a:r>
              <a:rPr lang="en-US" sz="1768" b="1" dirty="0">
                <a:solidFill>
                  <a:srgbClr val="FFFFFF"/>
                </a:solidFill>
                <a:latin typeface="Calibri" pitchFamily="34" charset="0"/>
                <a:ea typeface="Calibri" pitchFamily="34" charset="-122"/>
                <a:cs typeface="Calibri" pitchFamily="34" charset="-120"/>
              </a:rPr>
              <a:t>P1</a:t>
            </a:r>
            <a:endParaRPr lang="en-US" sz="1768" dirty="0"/>
          </a:p>
        </p:txBody>
      </p:sp>
      <p:sp>
        <p:nvSpPr>
          <p:cNvPr id="25" name="Shape 23"/>
          <p:cNvSpPr/>
          <p:nvPr/>
        </p:nvSpPr>
        <p:spPr>
          <a:xfrm>
            <a:off x="7324344" y="3246120"/>
            <a:ext cx="621792" cy="621792"/>
          </a:xfrm>
          <a:prstGeom prst="ellipse">
            <a:avLst/>
          </a:prstGeom>
          <a:solidFill>
            <a:srgbClr val="065A82"/>
          </a:solidFill>
          <a:ln/>
        </p:spPr>
        <p:txBody>
          <a:bodyPr/>
          <a:lstStyle/>
          <a:p>
            <a:endParaRPr lang="en-US"/>
          </a:p>
        </p:txBody>
      </p:sp>
      <p:sp>
        <p:nvSpPr>
          <p:cNvPr id="26" name="Text 24"/>
          <p:cNvSpPr txBox="1"/>
          <p:nvPr/>
        </p:nvSpPr>
        <p:spPr>
          <a:xfrm>
            <a:off x="7324344" y="3246120"/>
            <a:ext cx="621792" cy="621792"/>
          </a:xfrm>
          <a:prstGeom prst="rect">
            <a:avLst/>
          </a:prstGeom>
          <a:noFill/>
          <a:ln/>
        </p:spPr>
        <p:txBody>
          <a:bodyPr wrap="square" lIns="0" tIns="0" rIns="0" bIns="0" rtlCol="0" anchor="ctr"/>
          <a:lstStyle/>
          <a:p>
            <a:pPr marL="0" indent="0" algn="ctr">
              <a:buNone/>
            </a:pPr>
            <a:r>
              <a:rPr lang="en-US" sz="1768" b="1" dirty="0">
                <a:solidFill>
                  <a:srgbClr val="FFFFFF"/>
                </a:solidFill>
                <a:latin typeface="Calibri" pitchFamily="34" charset="0"/>
                <a:ea typeface="Calibri" pitchFamily="34" charset="-122"/>
                <a:cs typeface="Calibri" pitchFamily="34" charset="-120"/>
              </a:rPr>
              <a:t>P2</a:t>
            </a:r>
            <a:endParaRPr lang="en-US" sz="1768" dirty="0"/>
          </a:p>
        </p:txBody>
      </p:sp>
      <p:sp>
        <p:nvSpPr>
          <p:cNvPr id="27" name="Shape 25"/>
          <p:cNvSpPr/>
          <p:nvPr/>
        </p:nvSpPr>
        <p:spPr>
          <a:xfrm>
            <a:off x="8202168" y="3246120"/>
            <a:ext cx="621792" cy="621792"/>
          </a:xfrm>
          <a:prstGeom prst="ellipse">
            <a:avLst/>
          </a:prstGeom>
          <a:solidFill>
            <a:srgbClr val="065A82"/>
          </a:solidFill>
          <a:ln/>
        </p:spPr>
        <p:txBody>
          <a:bodyPr/>
          <a:lstStyle/>
          <a:p>
            <a:endParaRPr lang="en-US"/>
          </a:p>
        </p:txBody>
      </p:sp>
      <p:sp>
        <p:nvSpPr>
          <p:cNvPr id="28" name="Text 26"/>
          <p:cNvSpPr txBox="1"/>
          <p:nvPr/>
        </p:nvSpPr>
        <p:spPr>
          <a:xfrm>
            <a:off x="8202168" y="3246120"/>
            <a:ext cx="621792" cy="621792"/>
          </a:xfrm>
          <a:prstGeom prst="rect">
            <a:avLst/>
          </a:prstGeom>
          <a:noFill/>
          <a:ln/>
        </p:spPr>
        <p:txBody>
          <a:bodyPr wrap="square" lIns="0" tIns="0" rIns="0" bIns="0" rtlCol="0" anchor="ctr"/>
          <a:lstStyle/>
          <a:p>
            <a:pPr marL="0" indent="0" algn="ctr">
              <a:buNone/>
            </a:pPr>
            <a:r>
              <a:rPr lang="en-US" sz="1768" b="1" dirty="0">
                <a:solidFill>
                  <a:srgbClr val="FFFFFF"/>
                </a:solidFill>
                <a:latin typeface="Calibri" pitchFamily="34" charset="0"/>
                <a:ea typeface="Calibri" pitchFamily="34" charset="-122"/>
                <a:cs typeface="Calibri" pitchFamily="34" charset="-120"/>
              </a:rPr>
              <a:t>P3</a:t>
            </a:r>
            <a:endParaRPr lang="en-US" sz="1768" dirty="0"/>
          </a:p>
        </p:txBody>
      </p:sp>
      <p:sp>
        <p:nvSpPr>
          <p:cNvPr id="29" name="Shape 27"/>
          <p:cNvSpPr/>
          <p:nvPr/>
        </p:nvSpPr>
        <p:spPr>
          <a:xfrm>
            <a:off x="9079992" y="3246120"/>
            <a:ext cx="621792" cy="621792"/>
          </a:xfrm>
          <a:prstGeom prst="ellipse">
            <a:avLst/>
          </a:prstGeom>
          <a:solidFill>
            <a:srgbClr val="065A82"/>
          </a:solidFill>
          <a:ln/>
        </p:spPr>
        <p:txBody>
          <a:bodyPr/>
          <a:lstStyle/>
          <a:p>
            <a:endParaRPr lang="en-US"/>
          </a:p>
        </p:txBody>
      </p:sp>
      <p:sp>
        <p:nvSpPr>
          <p:cNvPr id="30" name="Text 28"/>
          <p:cNvSpPr txBox="1"/>
          <p:nvPr/>
        </p:nvSpPr>
        <p:spPr>
          <a:xfrm>
            <a:off x="9079992" y="3246120"/>
            <a:ext cx="621792" cy="621792"/>
          </a:xfrm>
          <a:prstGeom prst="rect">
            <a:avLst/>
          </a:prstGeom>
          <a:noFill/>
          <a:ln/>
        </p:spPr>
        <p:txBody>
          <a:bodyPr wrap="square" lIns="0" tIns="0" rIns="0" bIns="0" rtlCol="0" anchor="ctr"/>
          <a:lstStyle/>
          <a:p>
            <a:pPr marL="0" indent="0" algn="ctr">
              <a:buNone/>
            </a:pPr>
            <a:r>
              <a:rPr lang="en-US" sz="1768" b="1" dirty="0">
                <a:solidFill>
                  <a:srgbClr val="FFFFFF"/>
                </a:solidFill>
                <a:latin typeface="Calibri" pitchFamily="34" charset="0"/>
                <a:ea typeface="Calibri" pitchFamily="34" charset="-122"/>
                <a:cs typeface="Calibri" pitchFamily="34" charset="-120"/>
              </a:rPr>
              <a:t>P4</a:t>
            </a:r>
            <a:endParaRPr lang="en-US" sz="1768" dirty="0"/>
          </a:p>
        </p:txBody>
      </p:sp>
      <p:sp>
        <p:nvSpPr>
          <p:cNvPr id="31" name="Text 29"/>
          <p:cNvSpPr txBox="1"/>
          <p:nvPr/>
        </p:nvSpPr>
        <p:spPr>
          <a:xfrm>
            <a:off x="6400800" y="4096512"/>
            <a:ext cx="4800600" cy="777240"/>
          </a:xfrm>
          <a:prstGeom prst="rect">
            <a:avLst/>
          </a:prstGeom>
          <a:noFill/>
          <a:ln/>
        </p:spPr>
        <p:txBody>
          <a:bodyPr wrap="square" lIns="0" tIns="0" rIns="0" bIns="0" rtlCol="0" anchor="ctr"/>
          <a:lstStyle/>
          <a:p>
            <a:pPr marL="0" indent="0">
              <a:lnSpc>
                <a:spcPct val="120000"/>
              </a:lnSpc>
              <a:buNone/>
            </a:pPr>
            <a:r>
              <a:rPr lang="en-US" sz="1200" dirty="0">
                <a:solidFill>
                  <a:srgbClr val="CFE8F0"/>
                </a:solidFill>
                <a:latin typeface="Calibri" pitchFamily="34" charset="0"/>
                <a:ea typeface="Calibri" pitchFamily="34" charset="-122"/>
                <a:cs typeface="Calibri" pitchFamily="34" charset="-120"/>
              </a:rPr>
              <a:t>One worker process per CSV file — each with its own interpreter, GIL, and Kafka producer — true parallel execution across cores.</a:t>
            </a:r>
            <a:endParaRPr lang="en-US" sz="1200" dirty="0"/>
          </a:p>
        </p:txBody>
      </p:sp>
      <p:sp>
        <p:nvSpPr>
          <p:cNvPr id="32" name="Text 30"/>
          <p:cNvSpPr txBox="1"/>
          <p:nvPr/>
        </p:nvSpPr>
        <p:spPr>
          <a:xfrm>
            <a:off x="6400800" y="4983480"/>
            <a:ext cx="2286000" cy="365760"/>
          </a:xfrm>
          <a:prstGeom prst="rect">
            <a:avLst/>
          </a:prstGeom>
          <a:noFill/>
          <a:ln/>
        </p:spPr>
        <p:txBody>
          <a:bodyPr wrap="square" lIns="0" tIns="0" rIns="0" bIns="0" rtlCol="0" anchor="ctr"/>
          <a:lstStyle/>
          <a:p>
            <a:pPr marL="0" indent="0">
              <a:buNone/>
            </a:pPr>
            <a:r>
              <a:rPr lang="en-US" sz="1900" b="1" dirty="0">
                <a:solidFill>
                  <a:srgbClr val="F2A93B"/>
                </a:solidFill>
                <a:latin typeface="Cambria" pitchFamily="34" charset="0"/>
                <a:ea typeface="Cambria" pitchFamily="34" charset="-122"/>
                <a:cs typeface="Cambria" pitchFamily="34" charset="-120"/>
              </a:rPr>
              <a:t>~28,464</a:t>
            </a:r>
            <a:endParaRPr lang="en-US" sz="1900" dirty="0"/>
          </a:p>
        </p:txBody>
      </p:sp>
      <p:sp>
        <p:nvSpPr>
          <p:cNvPr id="33" name="Text 31"/>
          <p:cNvSpPr txBox="1"/>
          <p:nvPr/>
        </p:nvSpPr>
        <p:spPr>
          <a:xfrm>
            <a:off x="6400800" y="5321808"/>
            <a:ext cx="2286000" cy="274320"/>
          </a:xfrm>
          <a:prstGeom prst="rect">
            <a:avLst/>
          </a:prstGeom>
          <a:noFill/>
          <a:ln/>
        </p:spPr>
        <p:txBody>
          <a:bodyPr wrap="square" lIns="0" tIns="0" rIns="0" bIns="0" rtlCol="0" anchor="ctr"/>
          <a:lstStyle/>
          <a:p>
            <a:pPr marL="0" indent="0">
              <a:buNone/>
            </a:pPr>
            <a:r>
              <a:rPr lang="en-US" sz="1050" dirty="0">
                <a:solidFill>
                  <a:srgbClr val="CFE8F0"/>
                </a:solidFill>
                <a:latin typeface="Calibri" pitchFamily="34" charset="0"/>
                <a:ea typeface="Calibri" pitchFamily="34" charset="-122"/>
                <a:cs typeface="Calibri" pitchFamily="34" charset="-120"/>
              </a:rPr>
              <a:t>rows / second</a:t>
            </a:r>
            <a:endParaRPr lang="en-US" sz="1050" dirty="0"/>
          </a:p>
        </p:txBody>
      </p:sp>
      <p:sp>
        <p:nvSpPr>
          <p:cNvPr id="34" name="Text 32"/>
          <p:cNvSpPr txBox="1"/>
          <p:nvPr/>
        </p:nvSpPr>
        <p:spPr>
          <a:xfrm>
            <a:off x="8915400" y="4983480"/>
            <a:ext cx="2286000" cy="365760"/>
          </a:xfrm>
          <a:prstGeom prst="rect">
            <a:avLst/>
          </a:prstGeom>
          <a:noFill/>
          <a:ln/>
        </p:spPr>
        <p:txBody>
          <a:bodyPr wrap="square" lIns="0" tIns="0" rIns="0" bIns="0" rtlCol="0" anchor="ctr"/>
          <a:lstStyle/>
          <a:p>
            <a:pPr marL="0" indent="0">
              <a:buNone/>
            </a:pPr>
            <a:r>
              <a:rPr lang="en-US" sz="1900" b="1" dirty="0">
                <a:solidFill>
                  <a:srgbClr val="F2A93B"/>
                </a:solidFill>
                <a:latin typeface="Cambria" pitchFamily="34" charset="0"/>
                <a:ea typeface="Cambria" pitchFamily="34" charset="-122"/>
                <a:cs typeface="Cambria" pitchFamily="34" charset="-120"/>
              </a:rPr>
              <a:t>10–20 min</a:t>
            </a:r>
            <a:endParaRPr lang="en-US" sz="1900" dirty="0"/>
          </a:p>
        </p:txBody>
      </p:sp>
      <p:sp>
        <p:nvSpPr>
          <p:cNvPr id="35" name="Text 33"/>
          <p:cNvSpPr txBox="1"/>
          <p:nvPr/>
        </p:nvSpPr>
        <p:spPr>
          <a:xfrm>
            <a:off x="8915400" y="5321808"/>
            <a:ext cx="2286000" cy="274320"/>
          </a:xfrm>
          <a:prstGeom prst="rect">
            <a:avLst/>
          </a:prstGeom>
          <a:noFill/>
          <a:ln/>
        </p:spPr>
        <p:txBody>
          <a:bodyPr wrap="square" lIns="0" tIns="0" rIns="0" bIns="0" rtlCol="0" anchor="ctr"/>
          <a:lstStyle/>
          <a:p>
            <a:pPr marL="0" indent="0">
              <a:buNone/>
            </a:pPr>
            <a:r>
              <a:rPr lang="en-US" sz="1050" dirty="0">
                <a:solidFill>
                  <a:srgbClr val="CFE8F0"/>
                </a:solidFill>
                <a:latin typeface="Calibri" pitchFamily="34" charset="0"/>
                <a:ea typeface="Calibri" pitchFamily="34" charset="-122"/>
                <a:cs typeface="Calibri" pitchFamily="34" charset="-120"/>
              </a:rPr>
              <a:t>to load all data</a:t>
            </a:r>
            <a:endParaRPr lang="en-US" sz="1050" dirty="0"/>
          </a:p>
        </p:txBody>
      </p:sp>
      <p:sp>
        <p:nvSpPr>
          <p:cNvPr id="36" name="Text 34"/>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200" i="1" dirty="0">
                <a:solidFill>
                  <a:srgbClr val="CFE8F0"/>
                </a:solidFill>
                <a:latin typeface="Calibri" pitchFamily="34" charset="0"/>
                <a:ea typeface="Calibri" pitchFamily="34" charset="-122"/>
                <a:cs typeface="Calibri" pitchFamily="34" charset="-120"/>
              </a:rPr>
              <a:t>~4–5x throughput — plus orjson serialization and lighter CSV parsing. No change to the Kafka broker itself: the gain came entirely from using idle cores.</a:t>
            </a:r>
            <a:endParaRPr lang="en-US" sz="1200" dirty="0"/>
          </a:p>
        </p:txBody>
      </p:sp>
      <p:sp>
        <p:nvSpPr>
          <p:cNvPr id="37" name="Text 35"/>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8FAA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DESIGN DECISION</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Why We Split Speed From Accuracy</a:t>
            </a:r>
            <a:endParaRPr lang="en-US" sz="3200" dirty="0"/>
          </a:p>
        </p:txBody>
      </p:sp>
      <p:sp>
        <p:nvSpPr>
          <p:cNvPr id="4" name="Text 2"/>
          <p:cNvSpPr txBox="1"/>
          <p:nvPr/>
        </p:nvSpPr>
        <p:spPr>
          <a:xfrm>
            <a:off x="548640" y="1508760"/>
            <a:ext cx="11064240" cy="640080"/>
          </a:xfrm>
          <a:prstGeom prst="rect">
            <a:avLst/>
          </a:prstGeom>
          <a:noFill/>
          <a:ln/>
        </p:spPr>
        <p:txBody>
          <a:bodyPr wrap="square" lIns="0" tIns="0" rIns="0" bIns="0" rtlCol="0" anchor="ctr"/>
          <a:lstStyle/>
          <a:p>
            <a:pPr marL="0" indent="0">
              <a:lnSpc>
                <a:spcPct val="120000"/>
              </a:lnSpc>
              <a:buNone/>
            </a:pPr>
            <a:r>
              <a:rPr lang="en-US" sz="1350" dirty="0">
                <a:solidFill>
                  <a:srgbClr val="16232E"/>
                </a:solidFill>
                <a:latin typeface="Calibri" pitchFamily="34" charset="0"/>
                <a:ea typeface="Calibri" pitchFamily="34" charset="-122"/>
                <a:cs typeface="Calibri" pitchFamily="34" charset="-120"/>
              </a:rPr>
              <a:t>Two of our goals need to be instant. Two need to be exact. Rather than force one engine to do both, we run two paths that share the same raw data — this is called a Lambda Architecture.</a:t>
            </a:r>
            <a:endParaRPr lang="en-US" sz="1350" dirty="0"/>
          </a:p>
        </p:txBody>
      </p:sp>
      <p:sp>
        <p:nvSpPr>
          <p:cNvPr id="5" name="Shape 3"/>
          <p:cNvSpPr/>
          <p:nvPr/>
        </p:nvSpPr>
        <p:spPr>
          <a:xfrm>
            <a:off x="548640" y="2331720"/>
            <a:ext cx="5349240" cy="3383280"/>
          </a:xfrm>
          <a:prstGeom prst="roundRect">
            <a:avLst>
              <a:gd name="adj" fmla="val 2703"/>
            </a:avLst>
          </a:prstGeom>
          <a:solidFill>
            <a:srgbClr val="065A82"/>
          </a:solidFill>
          <a:ln/>
        </p:spPr>
        <p:txBody>
          <a:bodyPr/>
          <a:lstStyle/>
          <a:p>
            <a:endParaRPr lang="en-US"/>
          </a:p>
        </p:txBody>
      </p:sp>
      <p:sp>
        <p:nvSpPr>
          <p:cNvPr id="6" name="Text 4"/>
          <p:cNvSpPr txBox="1"/>
          <p:nvPr/>
        </p:nvSpPr>
        <p:spPr>
          <a:xfrm>
            <a:off x="822960" y="2560320"/>
            <a:ext cx="4800600" cy="365760"/>
          </a:xfrm>
          <a:prstGeom prst="rect">
            <a:avLst/>
          </a:prstGeom>
          <a:noFill/>
          <a:ln/>
        </p:spPr>
        <p:txBody>
          <a:bodyPr wrap="square" lIns="0" tIns="0" rIns="0" bIns="0" rtlCol="0" anchor="ctr"/>
          <a:lstStyle/>
          <a:p>
            <a:pPr marL="0" indent="0">
              <a:buNone/>
            </a:pPr>
            <a:r>
              <a:rPr lang="en-US" sz="1400" b="1" kern="0" spc="150" dirty="0">
                <a:solidFill>
                  <a:srgbClr val="F2A93B"/>
                </a:solidFill>
                <a:latin typeface="Calibri" pitchFamily="34" charset="0"/>
                <a:ea typeface="Calibri" pitchFamily="34" charset="-122"/>
                <a:cs typeface="Calibri" pitchFamily="34" charset="-120"/>
              </a:rPr>
              <a:t>SPEED LAYER</a:t>
            </a:r>
            <a:endParaRPr lang="en-US" sz="1400" dirty="0"/>
          </a:p>
        </p:txBody>
      </p:sp>
      <p:sp>
        <p:nvSpPr>
          <p:cNvPr id="7" name="Text 5"/>
          <p:cNvSpPr txBox="1"/>
          <p:nvPr/>
        </p:nvSpPr>
        <p:spPr>
          <a:xfrm>
            <a:off x="822960" y="2953512"/>
            <a:ext cx="48006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Fleet tracking · Speed alerts</a:t>
            </a:r>
            <a:endParaRPr lang="en-US" sz="1800" dirty="0"/>
          </a:p>
        </p:txBody>
      </p:sp>
      <p:sp>
        <p:nvSpPr>
          <p:cNvPr id="8" name="Text 6"/>
          <p:cNvSpPr txBox="1"/>
          <p:nvPr/>
        </p:nvSpPr>
        <p:spPr>
          <a:xfrm>
            <a:off x="868680" y="3566160"/>
            <a:ext cx="470916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Needs answers in seconds, not hours</a:t>
            </a:r>
            <a:endParaRPr lang="en-US" sz="1250" dirty="0"/>
          </a:p>
        </p:txBody>
      </p:sp>
      <p:sp>
        <p:nvSpPr>
          <p:cNvPr id="9" name="Text 7"/>
          <p:cNvSpPr txBox="1"/>
          <p:nvPr/>
        </p:nvSpPr>
        <p:spPr>
          <a:xfrm>
            <a:off x="868680" y="4023360"/>
            <a:ext cx="470916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Can tolerate a rough, “good enough” state</a:t>
            </a:r>
            <a:endParaRPr lang="en-US" sz="1250" dirty="0"/>
          </a:p>
        </p:txBody>
      </p:sp>
      <p:sp>
        <p:nvSpPr>
          <p:cNvPr id="10" name="Text 8"/>
          <p:cNvSpPr txBox="1"/>
          <p:nvPr/>
        </p:nvSpPr>
        <p:spPr>
          <a:xfrm>
            <a:off x="868680" y="4480560"/>
            <a:ext cx="470916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Never reprocesses old history</a:t>
            </a:r>
            <a:endParaRPr lang="en-US" sz="1250" dirty="0"/>
          </a:p>
        </p:txBody>
      </p:sp>
      <p:sp>
        <p:nvSpPr>
          <p:cNvPr id="11" name="Text 9"/>
          <p:cNvSpPr txBox="1"/>
          <p:nvPr/>
        </p:nvSpPr>
        <p:spPr>
          <a:xfrm>
            <a:off x="868680" y="4937760"/>
            <a:ext cx="470916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Powered by Spark Structured Streaming</a:t>
            </a:r>
            <a:endParaRPr lang="en-US" sz="1250" dirty="0"/>
          </a:p>
        </p:txBody>
      </p:sp>
      <p:sp>
        <p:nvSpPr>
          <p:cNvPr id="12" name="Shape 10"/>
          <p:cNvSpPr/>
          <p:nvPr/>
        </p:nvSpPr>
        <p:spPr>
          <a:xfrm>
            <a:off x="6126480" y="2331720"/>
            <a:ext cx="5349240" cy="3383280"/>
          </a:xfrm>
          <a:prstGeom prst="roundRect">
            <a:avLst>
              <a:gd name="adj" fmla="val 2703"/>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3" name="Text 11"/>
          <p:cNvSpPr txBox="1"/>
          <p:nvPr/>
        </p:nvSpPr>
        <p:spPr>
          <a:xfrm>
            <a:off x="6400800" y="2560320"/>
            <a:ext cx="4800600" cy="365760"/>
          </a:xfrm>
          <a:prstGeom prst="rect">
            <a:avLst/>
          </a:prstGeom>
          <a:noFill/>
          <a:ln/>
        </p:spPr>
        <p:txBody>
          <a:bodyPr wrap="square" lIns="0" tIns="0" rIns="0" bIns="0" rtlCol="0" anchor="ctr"/>
          <a:lstStyle/>
          <a:p>
            <a:pPr marL="0" indent="0">
              <a:buNone/>
            </a:pPr>
            <a:r>
              <a:rPr lang="en-US" sz="1400" b="1" kern="0" spc="150" dirty="0">
                <a:solidFill>
                  <a:srgbClr val="1C7293"/>
                </a:solidFill>
                <a:latin typeface="Calibri" pitchFamily="34" charset="0"/>
                <a:ea typeface="Calibri" pitchFamily="34" charset="-122"/>
                <a:cs typeface="Calibri" pitchFamily="34" charset="-120"/>
              </a:rPr>
              <a:t>BATCH LAYER</a:t>
            </a:r>
            <a:endParaRPr lang="en-US" sz="1400" dirty="0"/>
          </a:p>
        </p:txBody>
      </p:sp>
      <p:sp>
        <p:nvSpPr>
          <p:cNvPr id="14" name="Text 12"/>
          <p:cNvSpPr txBox="1"/>
          <p:nvPr/>
        </p:nvSpPr>
        <p:spPr>
          <a:xfrm>
            <a:off x="6400800" y="2953512"/>
            <a:ext cx="4800600" cy="365760"/>
          </a:xfrm>
          <a:prstGeom prst="rect">
            <a:avLst/>
          </a:prstGeom>
          <a:noFill/>
          <a:ln/>
        </p:spPr>
        <p:txBody>
          <a:bodyPr wrap="square" lIns="0" tIns="0" rIns="0" bIns="0" rtlCol="0" anchor="ctr"/>
          <a:lstStyle/>
          <a:p>
            <a:pPr marL="0" indent="0">
              <a:buNone/>
            </a:pPr>
            <a:r>
              <a:rPr lang="en-US" sz="1800" b="1" dirty="0">
                <a:solidFill>
                  <a:srgbClr val="0B2E4A"/>
                </a:solidFill>
                <a:latin typeface="Cambria" pitchFamily="34" charset="0"/>
                <a:ea typeface="Cambria" pitchFamily="34" charset="-122"/>
                <a:cs typeface="Cambria" pitchFamily="34" charset="-120"/>
              </a:rPr>
              <a:t>KPIs · Dwell time · AI clustering</a:t>
            </a:r>
            <a:endParaRPr lang="en-US" sz="1800" dirty="0"/>
          </a:p>
        </p:txBody>
      </p:sp>
      <p:sp>
        <p:nvSpPr>
          <p:cNvPr id="15" name="Text 13"/>
          <p:cNvSpPr txBox="1"/>
          <p:nvPr/>
        </p:nvSpPr>
        <p:spPr>
          <a:xfrm>
            <a:off x="6446520" y="3566160"/>
            <a:ext cx="47091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Needs to be exact and auditable</a:t>
            </a:r>
            <a:endParaRPr lang="en-US" sz="1250" dirty="0"/>
          </a:p>
        </p:txBody>
      </p:sp>
      <p:sp>
        <p:nvSpPr>
          <p:cNvPr id="16" name="Text 14"/>
          <p:cNvSpPr txBox="1"/>
          <p:nvPr/>
        </p:nvSpPr>
        <p:spPr>
          <a:xfrm>
            <a:off x="6446520" y="4023360"/>
            <a:ext cx="47091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Reprocesses complete historical data</a:t>
            </a:r>
            <a:endParaRPr lang="en-US" sz="1250" dirty="0"/>
          </a:p>
        </p:txBody>
      </p:sp>
      <p:sp>
        <p:nvSpPr>
          <p:cNvPr id="17" name="Text 15"/>
          <p:cNvSpPr txBox="1"/>
          <p:nvPr/>
        </p:nvSpPr>
        <p:spPr>
          <a:xfrm>
            <a:off x="6446520" y="4480560"/>
            <a:ext cx="47091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Runs once a day on a schedule</a:t>
            </a:r>
            <a:endParaRPr lang="en-US" sz="1250" dirty="0"/>
          </a:p>
        </p:txBody>
      </p:sp>
      <p:sp>
        <p:nvSpPr>
          <p:cNvPr id="18" name="Text 16"/>
          <p:cNvSpPr txBox="1"/>
          <p:nvPr/>
        </p:nvSpPr>
        <p:spPr>
          <a:xfrm>
            <a:off x="6446520" y="4937760"/>
            <a:ext cx="47091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Powered by Spark MLlib (K-Means) + Airflow</a:t>
            </a:r>
            <a:endParaRPr lang="en-US" sz="1250" dirty="0"/>
          </a:p>
        </p:txBody>
      </p:sp>
      <p:sp>
        <p:nvSpPr>
          <p:cNvPr id="19" name="Text 17"/>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Both paths read from the same immutable archive in HDFS — so the two answers can never permanently disagree.</a:t>
            </a:r>
            <a:endParaRPr lang="en-US" sz="1200" dirty="0"/>
          </a:p>
        </p:txBody>
      </p:sp>
      <p:sp>
        <p:nvSpPr>
          <p:cNvPr id="20" name="Text 18"/>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LAYER 1 + 2</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Nothing Gets Lost: One Signal, Four Destinations</a:t>
            </a:r>
            <a:endParaRPr lang="en-US" sz="3200" dirty="0"/>
          </a:p>
        </p:txBody>
      </p:sp>
      <p:sp>
        <p:nvSpPr>
          <p:cNvPr id="4" name="Text 2"/>
          <p:cNvSpPr txBox="1"/>
          <p:nvPr/>
        </p:nvSpPr>
        <p:spPr>
          <a:xfrm>
            <a:off x="548640" y="1508760"/>
            <a:ext cx="11064240" cy="548640"/>
          </a:xfrm>
          <a:prstGeom prst="rect">
            <a:avLst/>
          </a:prstGeom>
          <a:noFill/>
          <a:ln/>
        </p:spPr>
        <p:txBody>
          <a:bodyPr wrap="square" lIns="0" tIns="0" rIns="0" bIns="0" rtlCol="0" anchor="ctr"/>
          <a:lstStyle/>
          <a:p>
            <a:pPr marL="0" indent="0">
              <a:lnSpc>
                <a:spcPct val="120000"/>
              </a:lnSpc>
              <a:buNone/>
            </a:pPr>
            <a:r>
              <a:rPr lang="en-US" sz="1350" dirty="0">
                <a:solidFill>
                  <a:srgbClr val="16232E"/>
                </a:solidFill>
                <a:latin typeface="Calibri" pitchFamily="34" charset="0"/>
                <a:ea typeface="Calibri" pitchFamily="34" charset="-122"/>
                <a:cs typeface="Calibri" pitchFamily="34" charset="-120"/>
              </a:rPr>
              <a:t>Every incoming ship signal is queued in Kafka, then split by the streaming job into four parallel destinations — each built for a different purpose.</a:t>
            </a:r>
            <a:endParaRPr lang="en-US" sz="1350" dirty="0"/>
          </a:p>
        </p:txBody>
      </p:sp>
      <p:sp>
        <p:nvSpPr>
          <p:cNvPr id="5" name="Shape 3"/>
          <p:cNvSpPr/>
          <p:nvPr/>
        </p:nvSpPr>
        <p:spPr>
          <a:xfrm>
            <a:off x="548640" y="2240280"/>
            <a:ext cx="2743200" cy="914400"/>
          </a:xfrm>
          <a:prstGeom prst="roundRect">
            <a:avLst>
              <a:gd name="adj" fmla="val 10000"/>
            </a:avLst>
          </a:prstGeom>
          <a:solidFill>
            <a:srgbClr val="0B2E4A"/>
          </a:solidFill>
          <a:ln/>
        </p:spPr>
        <p:txBody>
          <a:bodyPr/>
          <a:lstStyle/>
          <a:p>
            <a:endParaRPr lang="en-US"/>
          </a:p>
        </p:txBody>
      </p:sp>
      <p:sp>
        <p:nvSpPr>
          <p:cNvPr id="6" name="Text 4"/>
          <p:cNvSpPr txBox="1"/>
          <p:nvPr/>
        </p:nvSpPr>
        <p:spPr>
          <a:xfrm>
            <a:off x="548640" y="2240280"/>
            <a:ext cx="274320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Kafka Topic</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ais_raw_ingest</a:t>
            </a:r>
            <a:endParaRPr lang="en-US" sz="1300" dirty="0"/>
          </a:p>
        </p:txBody>
      </p:sp>
      <p:sp>
        <p:nvSpPr>
          <p:cNvPr id="7" name="Text 5"/>
          <p:cNvSpPr txBox="1"/>
          <p:nvPr/>
        </p:nvSpPr>
        <p:spPr>
          <a:xfrm>
            <a:off x="3429000" y="2377440"/>
            <a:ext cx="548640" cy="640080"/>
          </a:xfrm>
          <a:prstGeom prst="rect">
            <a:avLst/>
          </a:prstGeom>
          <a:noFill/>
          <a:ln/>
        </p:spPr>
        <p:txBody>
          <a:bodyPr wrap="square" lIns="0" tIns="0" rIns="0" bIns="0" rtlCol="0" anchor="ctr"/>
          <a:lstStyle/>
          <a:p>
            <a:pPr marL="0" indent="0" algn="ctr">
              <a:buNone/>
            </a:pPr>
            <a:r>
              <a:rPr lang="en-US" sz="2600" dirty="0">
                <a:solidFill>
                  <a:srgbClr val="1C7293"/>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548640" y="3429000"/>
            <a:ext cx="2606040" cy="1920240"/>
          </a:xfrm>
          <a:prstGeom prst="roundRect">
            <a:avLst>
              <a:gd name="adj" fmla="val 4762"/>
            </a:avLst>
          </a:prstGeom>
          <a:solidFill>
            <a:srgbClr val="065A82"/>
          </a:solidFill>
          <a:ln/>
        </p:spPr>
        <p:txBody>
          <a:bodyPr/>
          <a:lstStyle/>
          <a:p>
            <a:endParaRPr lang="en-US"/>
          </a:p>
        </p:txBody>
      </p:sp>
      <p:sp>
        <p:nvSpPr>
          <p:cNvPr id="9" name="Text 7"/>
          <p:cNvSpPr txBox="1"/>
          <p:nvPr/>
        </p:nvSpPr>
        <p:spPr>
          <a:xfrm>
            <a:off x="731520" y="3611880"/>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Sink A</a:t>
            </a:r>
            <a:endParaRPr lang="en-US" sz="1300" dirty="0"/>
          </a:p>
        </p:txBody>
      </p:sp>
      <p:sp>
        <p:nvSpPr>
          <p:cNvPr id="10" name="Text 8"/>
          <p:cNvSpPr txBox="1"/>
          <p:nvPr/>
        </p:nvSpPr>
        <p:spPr>
          <a:xfrm>
            <a:off x="731520" y="3931920"/>
            <a:ext cx="2240280" cy="320040"/>
          </a:xfrm>
          <a:prstGeom prst="rect">
            <a:avLst/>
          </a:prstGeom>
          <a:noFill/>
          <a:ln/>
        </p:spPr>
        <p:txBody>
          <a:bodyPr wrap="square" lIns="0" tIns="0" rIns="0" bIns="0" rtlCol="0" anchor="ctr"/>
          <a:lstStyle/>
          <a:p>
            <a:pPr marL="0" indent="0">
              <a:buNone/>
            </a:pPr>
            <a:r>
              <a:rPr lang="en-US" sz="1100" i="1" dirty="0">
                <a:solidFill>
                  <a:srgbClr val="CFE8F0"/>
                </a:solidFill>
                <a:latin typeface="Calibri" pitchFamily="34" charset="0"/>
                <a:ea typeface="Calibri" pitchFamily="34" charset="-122"/>
                <a:cs typeface="Calibri" pitchFamily="34" charset="-120"/>
              </a:rPr>
              <a:t>PostGIS upsert</a:t>
            </a:r>
            <a:endParaRPr lang="en-US" sz="1100" dirty="0"/>
          </a:p>
        </p:txBody>
      </p:sp>
      <p:sp>
        <p:nvSpPr>
          <p:cNvPr id="11" name="Shape 9"/>
          <p:cNvSpPr/>
          <p:nvPr/>
        </p:nvSpPr>
        <p:spPr>
          <a:xfrm>
            <a:off x="731520" y="4325112"/>
            <a:ext cx="2240280" cy="0"/>
          </a:xfrm>
          <a:prstGeom prst="line">
            <a:avLst/>
          </a:prstGeom>
          <a:noFill/>
          <a:ln w="9525">
            <a:solidFill>
              <a:srgbClr val="FFFFFF">
                <a:alpha val="60000"/>
              </a:srgbClr>
            </a:solidFill>
            <a:prstDash val="solid"/>
          </a:ln>
        </p:spPr>
        <p:txBody>
          <a:bodyPr/>
          <a:lstStyle/>
          <a:p>
            <a:endParaRPr lang="en-US"/>
          </a:p>
        </p:txBody>
      </p:sp>
      <p:sp>
        <p:nvSpPr>
          <p:cNvPr id="12" name="Text 10"/>
          <p:cNvSpPr txBox="1"/>
          <p:nvPr/>
        </p:nvSpPr>
        <p:spPr>
          <a:xfrm>
            <a:off x="731520" y="4416552"/>
            <a:ext cx="2240280" cy="86868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Updates each ship's current position</a:t>
            </a:r>
            <a:endParaRPr lang="en-US" sz="1150" dirty="0"/>
          </a:p>
        </p:txBody>
      </p:sp>
      <p:sp>
        <p:nvSpPr>
          <p:cNvPr id="13" name="Shape 11"/>
          <p:cNvSpPr/>
          <p:nvPr/>
        </p:nvSpPr>
        <p:spPr>
          <a:xfrm>
            <a:off x="3337560" y="3429000"/>
            <a:ext cx="2606040" cy="1920240"/>
          </a:xfrm>
          <a:prstGeom prst="roundRect">
            <a:avLst>
              <a:gd name="adj" fmla="val 4762"/>
            </a:avLst>
          </a:prstGeom>
          <a:solidFill>
            <a:srgbClr val="F2A93B"/>
          </a:solidFill>
          <a:ln/>
        </p:spPr>
        <p:txBody>
          <a:bodyPr/>
          <a:lstStyle/>
          <a:p>
            <a:endParaRPr lang="en-US"/>
          </a:p>
        </p:txBody>
      </p:sp>
      <p:sp>
        <p:nvSpPr>
          <p:cNvPr id="14" name="Text 12"/>
          <p:cNvSpPr txBox="1"/>
          <p:nvPr/>
        </p:nvSpPr>
        <p:spPr>
          <a:xfrm>
            <a:off x="3520440" y="3611880"/>
            <a:ext cx="2240280" cy="320040"/>
          </a:xfrm>
          <a:prstGeom prst="rect">
            <a:avLst/>
          </a:prstGeom>
          <a:noFill/>
          <a:ln/>
        </p:spPr>
        <p:txBody>
          <a:bodyPr wrap="square" lIns="0" tIns="0" rIns="0" bIns="0" rtlCol="0" anchor="ctr"/>
          <a:lstStyle/>
          <a:p>
            <a:pPr marL="0" indent="0">
              <a:buNone/>
            </a:pPr>
            <a:r>
              <a:rPr lang="en-US" sz="1300" b="1" dirty="0">
                <a:solidFill>
                  <a:srgbClr val="0B2E4A"/>
                </a:solidFill>
                <a:latin typeface="Calibri" pitchFamily="34" charset="0"/>
                <a:ea typeface="Calibri" pitchFamily="34" charset="-122"/>
                <a:cs typeface="Calibri" pitchFamily="34" charset="-120"/>
              </a:rPr>
              <a:t>Sink B</a:t>
            </a:r>
            <a:endParaRPr lang="en-US" sz="1300" dirty="0"/>
          </a:p>
        </p:txBody>
      </p:sp>
      <p:sp>
        <p:nvSpPr>
          <p:cNvPr id="15" name="Text 13"/>
          <p:cNvSpPr txBox="1"/>
          <p:nvPr/>
        </p:nvSpPr>
        <p:spPr>
          <a:xfrm>
            <a:off x="3520440" y="3931920"/>
            <a:ext cx="2240280" cy="320040"/>
          </a:xfrm>
          <a:prstGeom prst="rect">
            <a:avLst/>
          </a:prstGeom>
          <a:noFill/>
          <a:ln/>
        </p:spPr>
        <p:txBody>
          <a:bodyPr wrap="square" lIns="0" tIns="0" rIns="0" bIns="0" rtlCol="0" anchor="ctr"/>
          <a:lstStyle/>
          <a:p>
            <a:pPr marL="0" indent="0">
              <a:buNone/>
            </a:pPr>
            <a:r>
              <a:rPr lang="en-US" sz="1100" i="1" dirty="0">
                <a:solidFill>
                  <a:srgbClr val="0B2E4A"/>
                </a:solidFill>
                <a:latin typeface="Calibri" pitchFamily="34" charset="0"/>
                <a:ea typeface="Calibri" pitchFamily="34" charset="-122"/>
                <a:cs typeface="Calibri" pitchFamily="34" charset="-120"/>
              </a:rPr>
              <a:t> Alert </a:t>
            </a:r>
            <a:endParaRPr lang="en-US" sz="1100" dirty="0"/>
          </a:p>
        </p:txBody>
      </p:sp>
      <p:sp>
        <p:nvSpPr>
          <p:cNvPr id="16" name="Shape 14"/>
          <p:cNvSpPr/>
          <p:nvPr/>
        </p:nvSpPr>
        <p:spPr>
          <a:xfrm>
            <a:off x="3520440" y="4325112"/>
            <a:ext cx="2240280" cy="0"/>
          </a:xfrm>
          <a:prstGeom prst="line">
            <a:avLst/>
          </a:prstGeom>
          <a:noFill/>
          <a:ln w="9525">
            <a:solidFill>
              <a:srgbClr val="0B2E4A">
                <a:alpha val="60000"/>
              </a:srgbClr>
            </a:solidFill>
            <a:prstDash val="solid"/>
          </a:ln>
        </p:spPr>
        <p:txBody>
          <a:bodyPr/>
          <a:lstStyle/>
          <a:p>
            <a:endParaRPr lang="en-US"/>
          </a:p>
        </p:txBody>
      </p:sp>
      <p:sp>
        <p:nvSpPr>
          <p:cNvPr id="17" name="Text 15"/>
          <p:cNvSpPr txBox="1"/>
          <p:nvPr/>
        </p:nvSpPr>
        <p:spPr>
          <a:xfrm>
            <a:off x="3520440" y="4416552"/>
            <a:ext cx="2240280" cy="868680"/>
          </a:xfrm>
          <a:prstGeom prst="rect">
            <a:avLst/>
          </a:prstGeom>
          <a:noFill/>
          <a:ln/>
        </p:spPr>
        <p:txBody>
          <a:bodyPr wrap="square" lIns="0" tIns="0" rIns="0" bIns="0" rtlCol="0" anchor="ctr"/>
          <a:lstStyle/>
          <a:p>
            <a:pPr marL="0" indent="0">
              <a:lnSpc>
                <a:spcPct val="115000"/>
              </a:lnSpc>
              <a:buNone/>
            </a:pPr>
            <a:r>
              <a:rPr lang="en-US" sz="1150" dirty="0">
                <a:solidFill>
                  <a:srgbClr val="0B2E4A"/>
                </a:solidFill>
                <a:latin typeface="Calibri" pitchFamily="34" charset="0"/>
                <a:ea typeface="Calibri" pitchFamily="34" charset="-122"/>
                <a:cs typeface="Calibri" pitchFamily="34" charset="-120"/>
              </a:rPr>
              <a:t>Fires when a ship is speeding</a:t>
            </a:r>
            <a:endParaRPr lang="en-US" sz="1150" dirty="0"/>
          </a:p>
        </p:txBody>
      </p:sp>
      <p:sp>
        <p:nvSpPr>
          <p:cNvPr id="18" name="Shape 16"/>
          <p:cNvSpPr/>
          <p:nvPr/>
        </p:nvSpPr>
        <p:spPr>
          <a:xfrm>
            <a:off x="6126480" y="3429000"/>
            <a:ext cx="2606040" cy="1920240"/>
          </a:xfrm>
          <a:prstGeom prst="roundRect">
            <a:avLst>
              <a:gd name="adj" fmla="val 4762"/>
            </a:avLst>
          </a:prstGeom>
          <a:solidFill>
            <a:srgbClr val="1C7293"/>
          </a:solidFill>
          <a:ln/>
        </p:spPr>
        <p:txBody>
          <a:bodyPr/>
          <a:lstStyle/>
          <a:p>
            <a:endParaRPr lang="en-US"/>
          </a:p>
        </p:txBody>
      </p:sp>
      <p:sp>
        <p:nvSpPr>
          <p:cNvPr id="19" name="Text 17"/>
          <p:cNvSpPr txBox="1"/>
          <p:nvPr/>
        </p:nvSpPr>
        <p:spPr>
          <a:xfrm>
            <a:off x="6309360" y="3611880"/>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Sink C</a:t>
            </a:r>
            <a:endParaRPr lang="en-US" sz="1300" dirty="0"/>
          </a:p>
        </p:txBody>
      </p:sp>
      <p:sp>
        <p:nvSpPr>
          <p:cNvPr id="20" name="Text 18"/>
          <p:cNvSpPr txBox="1"/>
          <p:nvPr/>
        </p:nvSpPr>
        <p:spPr>
          <a:xfrm>
            <a:off x="6309360" y="3931920"/>
            <a:ext cx="2240280" cy="320040"/>
          </a:xfrm>
          <a:prstGeom prst="rect">
            <a:avLst/>
          </a:prstGeom>
          <a:noFill/>
          <a:ln/>
        </p:spPr>
        <p:txBody>
          <a:bodyPr wrap="square" lIns="0" tIns="0" rIns="0" bIns="0" rtlCol="0" anchor="ctr"/>
          <a:lstStyle/>
          <a:p>
            <a:pPr marL="0" indent="0">
              <a:buNone/>
            </a:pPr>
            <a:r>
              <a:rPr lang="en-US" sz="1100" i="1" dirty="0">
                <a:solidFill>
                  <a:srgbClr val="CFE8F0"/>
                </a:solidFill>
                <a:latin typeface="Calibri" pitchFamily="34" charset="0"/>
                <a:ea typeface="Calibri" pitchFamily="34" charset="-122"/>
                <a:cs typeface="Calibri" pitchFamily="34" charset="-120"/>
              </a:rPr>
              <a:t>HDFS Parquet</a:t>
            </a:r>
            <a:endParaRPr lang="en-US" sz="1100" dirty="0"/>
          </a:p>
        </p:txBody>
      </p:sp>
      <p:sp>
        <p:nvSpPr>
          <p:cNvPr id="21" name="Shape 19"/>
          <p:cNvSpPr/>
          <p:nvPr/>
        </p:nvSpPr>
        <p:spPr>
          <a:xfrm>
            <a:off x="6309360" y="4325112"/>
            <a:ext cx="2240280" cy="0"/>
          </a:xfrm>
          <a:prstGeom prst="line">
            <a:avLst/>
          </a:prstGeom>
          <a:noFill/>
          <a:ln w="9525">
            <a:solidFill>
              <a:srgbClr val="FFFFFF">
                <a:alpha val="60000"/>
              </a:srgbClr>
            </a:solidFill>
            <a:prstDash val="solid"/>
          </a:ln>
        </p:spPr>
        <p:txBody>
          <a:bodyPr/>
          <a:lstStyle/>
          <a:p>
            <a:endParaRPr lang="en-US"/>
          </a:p>
        </p:txBody>
      </p:sp>
      <p:sp>
        <p:nvSpPr>
          <p:cNvPr id="22" name="Text 20"/>
          <p:cNvSpPr txBox="1"/>
          <p:nvPr/>
        </p:nvSpPr>
        <p:spPr>
          <a:xfrm>
            <a:off x="6309360" y="4416552"/>
            <a:ext cx="2240280" cy="86868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Archives every raw signal, by date</a:t>
            </a:r>
            <a:endParaRPr lang="en-US" sz="1150" dirty="0"/>
          </a:p>
        </p:txBody>
      </p:sp>
      <p:sp>
        <p:nvSpPr>
          <p:cNvPr id="23" name="Shape 21"/>
          <p:cNvSpPr/>
          <p:nvPr/>
        </p:nvSpPr>
        <p:spPr>
          <a:xfrm>
            <a:off x="8915400" y="3429000"/>
            <a:ext cx="2606040" cy="1920240"/>
          </a:xfrm>
          <a:prstGeom prst="roundRect">
            <a:avLst>
              <a:gd name="adj" fmla="val 4762"/>
            </a:avLst>
          </a:prstGeom>
          <a:solidFill>
            <a:srgbClr val="5A6B78"/>
          </a:solidFill>
          <a:ln/>
        </p:spPr>
        <p:txBody>
          <a:bodyPr/>
          <a:lstStyle/>
          <a:p>
            <a:endParaRPr lang="en-US"/>
          </a:p>
        </p:txBody>
      </p:sp>
      <p:sp>
        <p:nvSpPr>
          <p:cNvPr id="24" name="Text 22"/>
          <p:cNvSpPr txBox="1"/>
          <p:nvPr/>
        </p:nvSpPr>
        <p:spPr>
          <a:xfrm>
            <a:off x="9098280" y="3611880"/>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Rejects</a:t>
            </a:r>
            <a:endParaRPr lang="en-US" sz="1300" dirty="0"/>
          </a:p>
        </p:txBody>
      </p:sp>
      <p:sp>
        <p:nvSpPr>
          <p:cNvPr id="25" name="Text 23"/>
          <p:cNvSpPr txBox="1"/>
          <p:nvPr/>
        </p:nvSpPr>
        <p:spPr>
          <a:xfrm>
            <a:off x="9098280" y="3931920"/>
            <a:ext cx="2240280" cy="320040"/>
          </a:xfrm>
          <a:prstGeom prst="rect">
            <a:avLst/>
          </a:prstGeom>
          <a:noFill/>
          <a:ln/>
        </p:spPr>
        <p:txBody>
          <a:bodyPr wrap="square" lIns="0" tIns="0" rIns="0" bIns="0" rtlCol="0" anchor="ctr"/>
          <a:lstStyle/>
          <a:p>
            <a:pPr marL="0" indent="0">
              <a:buNone/>
            </a:pPr>
            <a:r>
              <a:rPr lang="en-US" sz="1100" i="1" dirty="0">
                <a:solidFill>
                  <a:srgbClr val="CFE8F0"/>
                </a:solidFill>
                <a:latin typeface="Calibri" pitchFamily="34" charset="0"/>
                <a:ea typeface="Calibri" pitchFamily="34" charset="-122"/>
                <a:cs typeface="Calibri" pitchFamily="34" charset="-120"/>
              </a:rPr>
              <a:t>HDFS dead-letter</a:t>
            </a:r>
            <a:endParaRPr lang="en-US" sz="1100" dirty="0"/>
          </a:p>
        </p:txBody>
      </p:sp>
      <p:sp>
        <p:nvSpPr>
          <p:cNvPr id="26" name="Shape 24"/>
          <p:cNvSpPr/>
          <p:nvPr/>
        </p:nvSpPr>
        <p:spPr>
          <a:xfrm>
            <a:off x="9098280" y="4325112"/>
            <a:ext cx="2240280" cy="0"/>
          </a:xfrm>
          <a:prstGeom prst="line">
            <a:avLst/>
          </a:prstGeom>
          <a:noFill/>
          <a:ln w="9525">
            <a:solidFill>
              <a:srgbClr val="FFFFFF">
                <a:alpha val="60000"/>
              </a:srgbClr>
            </a:solidFill>
            <a:prstDash val="solid"/>
          </a:ln>
        </p:spPr>
        <p:txBody>
          <a:bodyPr/>
          <a:lstStyle/>
          <a:p>
            <a:endParaRPr lang="en-US"/>
          </a:p>
        </p:txBody>
      </p:sp>
      <p:sp>
        <p:nvSpPr>
          <p:cNvPr id="27" name="Text 25"/>
          <p:cNvSpPr txBox="1"/>
          <p:nvPr/>
        </p:nvSpPr>
        <p:spPr>
          <a:xfrm>
            <a:off x="9098280" y="4416552"/>
            <a:ext cx="2240280" cy="86868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Catches malformed or bad data</a:t>
            </a:r>
            <a:endParaRPr lang="en-US" sz="1150" dirty="0"/>
          </a:p>
        </p:txBody>
      </p:sp>
      <p:sp>
        <p:nvSpPr>
          <p:cNvPr id="28" name="Text 26"/>
          <p:cNvSpPr txBox="1"/>
          <p:nvPr/>
        </p:nvSpPr>
        <p:spPr>
          <a:xfrm>
            <a:off x="548640" y="562356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Key point: bad data is never silently dropped or allowed to crash the job — it is captured for review.</a:t>
            </a:r>
            <a:endParaRPr lang="en-US" sz="1200" dirty="0"/>
          </a:p>
        </p:txBody>
      </p:sp>
      <p:sp>
        <p:nvSpPr>
          <p:cNvPr id="29" name="Text 27"/>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LAYER 4</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One Daily Job, Five Reliable Steps</a:t>
            </a:r>
            <a:endParaRPr lang="en-US" sz="3200" dirty="0"/>
          </a:p>
        </p:txBody>
      </p:sp>
      <p:sp>
        <p:nvSpPr>
          <p:cNvPr id="4" name="Text 2"/>
          <p:cNvSpPr txBox="1"/>
          <p:nvPr/>
        </p:nvSpPr>
        <p:spPr>
          <a:xfrm>
            <a:off x="548640" y="1508760"/>
            <a:ext cx="11064240" cy="548640"/>
          </a:xfrm>
          <a:prstGeom prst="rect">
            <a:avLst/>
          </a:prstGeom>
          <a:noFill/>
          <a:ln/>
        </p:spPr>
        <p:txBody>
          <a:bodyPr wrap="square" lIns="0" tIns="0" rIns="0" bIns="0" rtlCol="0" anchor="ctr"/>
          <a:lstStyle/>
          <a:p>
            <a:pPr marL="0" indent="0">
              <a:lnSpc>
                <a:spcPct val="120000"/>
              </a:lnSpc>
              <a:buNone/>
            </a:pPr>
            <a:r>
              <a:rPr lang="en-US" sz="1350" dirty="0">
                <a:solidFill>
                  <a:srgbClr val="16232E"/>
                </a:solidFill>
                <a:latin typeface="Calibri" pitchFamily="34" charset="0"/>
                <a:ea typeface="Calibri" pitchFamily="34" charset="-122"/>
                <a:cs typeface="Calibri" pitchFamily="34" charset="-120"/>
              </a:rPr>
              <a:t>Every day, Airflow runs the same five steps in order. If a step fails, it can retry — and the whole day can be safely re-run without creating duplicate data.</a:t>
            </a:r>
            <a:endParaRPr lang="en-US" sz="1350" dirty="0"/>
          </a:p>
        </p:txBody>
      </p:sp>
      <p:sp>
        <p:nvSpPr>
          <p:cNvPr id="5" name="Shape 3"/>
          <p:cNvSpPr/>
          <p:nvPr/>
        </p:nvSpPr>
        <p:spPr>
          <a:xfrm>
            <a:off x="548640" y="2468880"/>
            <a:ext cx="1965960" cy="2286000"/>
          </a:xfrm>
          <a:prstGeom prst="roundRect">
            <a:avLst>
              <a:gd name="adj" fmla="val 4651"/>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6" name="Shape 4"/>
          <p:cNvSpPr/>
          <p:nvPr/>
        </p:nvSpPr>
        <p:spPr>
          <a:xfrm>
            <a:off x="1211580" y="2697480"/>
            <a:ext cx="640080" cy="640080"/>
          </a:xfrm>
          <a:prstGeom prst="ellipse">
            <a:avLst/>
          </a:prstGeom>
          <a:solidFill>
            <a:srgbClr val="065A82"/>
          </a:solidFill>
          <a:ln/>
        </p:spPr>
        <p:txBody>
          <a:bodyPr/>
          <a:lstStyle/>
          <a:p>
            <a:endParaRPr lang="en-US"/>
          </a:p>
        </p:txBody>
      </p:sp>
      <p:sp>
        <p:nvSpPr>
          <p:cNvPr id="7" name="Text 5"/>
          <p:cNvSpPr txBox="1"/>
          <p:nvPr/>
        </p:nvSpPr>
        <p:spPr>
          <a:xfrm>
            <a:off x="1211580" y="26974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8" name="Text 6"/>
          <p:cNvSpPr txBox="1"/>
          <p:nvPr/>
        </p:nvSpPr>
        <p:spPr>
          <a:xfrm>
            <a:off x="640080" y="3474720"/>
            <a:ext cx="1783080" cy="548640"/>
          </a:xfrm>
          <a:prstGeom prst="rect">
            <a:avLst/>
          </a:prstGeom>
          <a:noFill/>
          <a:ln/>
        </p:spPr>
        <p:txBody>
          <a:bodyPr wrap="square" lIns="0" tIns="0" rIns="0" bIns="0" rtlCol="0" anchor="ctr"/>
          <a:lstStyle/>
          <a:p>
            <a:pPr marL="0" indent="0" algn="ctr">
              <a:buNone/>
            </a:pPr>
            <a:r>
              <a:rPr lang="en-US" sz="1250" b="1" dirty="0">
                <a:solidFill>
                  <a:srgbClr val="0B2E4A"/>
                </a:solidFill>
                <a:latin typeface="Cambria" pitchFamily="34" charset="0"/>
                <a:ea typeface="Cambria" pitchFamily="34" charset="-122"/>
                <a:cs typeface="Cambria" pitchFamily="34" charset="-120"/>
              </a:rPr>
              <a:t>Check Data Arrived</a:t>
            </a:r>
            <a:endParaRPr lang="en-US" sz="1250" dirty="0"/>
          </a:p>
        </p:txBody>
      </p:sp>
      <p:sp>
        <p:nvSpPr>
          <p:cNvPr id="9" name="Text 7"/>
          <p:cNvSpPr txBox="1"/>
          <p:nvPr/>
        </p:nvSpPr>
        <p:spPr>
          <a:xfrm>
            <a:off x="685800" y="3977640"/>
            <a:ext cx="1691640" cy="731520"/>
          </a:xfrm>
          <a:prstGeom prst="rect">
            <a:avLst/>
          </a:prstGeom>
          <a:noFill/>
          <a:ln/>
        </p:spPr>
        <p:txBody>
          <a:bodyPr wrap="square" lIns="0" tIns="0" rIns="0" bIns="0" rtlCol="0" anchor="ctr"/>
          <a:lstStyle/>
          <a:p>
            <a:pPr marL="0" indent="0" algn="ctr">
              <a:lnSpc>
                <a:spcPct val="115000"/>
              </a:lnSpc>
              <a:buNone/>
            </a:pPr>
            <a:r>
              <a:rPr lang="en-US" sz="1050" dirty="0">
                <a:solidFill>
                  <a:srgbClr val="16232E"/>
                </a:solidFill>
                <a:latin typeface="Calibri" pitchFamily="34" charset="0"/>
                <a:ea typeface="Calibri" pitchFamily="34" charset="-122"/>
                <a:cs typeface="Calibri" pitchFamily="34" charset="-120"/>
              </a:rPr>
              <a:t>Confirm today's raw files exist in HDFS</a:t>
            </a:r>
            <a:endParaRPr lang="en-US" sz="1050" dirty="0"/>
          </a:p>
        </p:txBody>
      </p:sp>
      <p:sp>
        <p:nvSpPr>
          <p:cNvPr id="10" name="Text 8"/>
          <p:cNvSpPr txBox="1"/>
          <p:nvPr/>
        </p:nvSpPr>
        <p:spPr>
          <a:xfrm>
            <a:off x="2514600" y="3291840"/>
            <a:ext cx="228600" cy="640080"/>
          </a:xfrm>
          <a:prstGeom prst="rect">
            <a:avLst/>
          </a:prstGeom>
          <a:noFill/>
          <a:ln/>
        </p:spPr>
        <p:txBody>
          <a:bodyPr wrap="square" lIns="0" tIns="0" rIns="0" bIns="0" rtlCol="0" anchor="ctr"/>
          <a:lstStyle/>
          <a:p>
            <a:pPr marL="0" indent="0" algn="ctr">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743200" y="2468880"/>
            <a:ext cx="1965960" cy="2286000"/>
          </a:xfrm>
          <a:prstGeom prst="roundRect">
            <a:avLst>
              <a:gd name="adj" fmla="val 4651"/>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2" name="Shape 10"/>
          <p:cNvSpPr/>
          <p:nvPr/>
        </p:nvSpPr>
        <p:spPr>
          <a:xfrm>
            <a:off x="3406140" y="2697480"/>
            <a:ext cx="640080" cy="640080"/>
          </a:xfrm>
          <a:prstGeom prst="ellipse">
            <a:avLst/>
          </a:prstGeom>
          <a:solidFill>
            <a:srgbClr val="065A82"/>
          </a:solidFill>
          <a:ln/>
        </p:spPr>
        <p:txBody>
          <a:bodyPr/>
          <a:lstStyle/>
          <a:p>
            <a:endParaRPr lang="en-US"/>
          </a:p>
        </p:txBody>
      </p:sp>
      <p:sp>
        <p:nvSpPr>
          <p:cNvPr id="13" name="Text 11"/>
          <p:cNvSpPr txBox="1"/>
          <p:nvPr/>
        </p:nvSpPr>
        <p:spPr>
          <a:xfrm>
            <a:off x="3406140" y="26974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4" name="Text 12"/>
          <p:cNvSpPr txBox="1"/>
          <p:nvPr/>
        </p:nvSpPr>
        <p:spPr>
          <a:xfrm>
            <a:off x="2834640" y="3474720"/>
            <a:ext cx="1783080" cy="548640"/>
          </a:xfrm>
          <a:prstGeom prst="rect">
            <a:avLst/>
          </a:prstGeom>
          <a:noFill/>
          <a:ln/>
        </p:spPr>
        <p:txBody>
          <a:bodyPr wrap="square" lIns="0" tIns="0" rIns="0" bIns="0" rtlCol="0" anchor="ctr"/>
          <a:lstStyle/>
          <a:p>
            <a:pPr marL="0" indent="0" algn="ctr">
              <a:buNone/>
            </a:pPr>
            <a:r>
              <a:rPr lang="en-US" sz="1250" b="1" dirty="0">
                <a:solidFill>
                  <a:srgbClr val="0B2E4A"/>
                </a:solidFill>
                <a:latin typeface="Cambria" pitchFamily="34" charset="0"/>
                <a:ea typeface="Cambria" pitchFamily="34" charset="-122"/>
                <a:cs typeface="Cambria" pitchFamily="34" charset="-120"/>
              </a:rPr>
              <a:t>Compute KPIs</a:t>
            </a:r>
            <a:endParaRPr lang="en-US" sz="1250" dirty="0"/>
          </a:p>
        </p:txBody>
      </p:sp>
      <p:sp>
        <p:nvSpPr>
          <p:cNvPr id="15" name="Text 13"/>
          <p:cNvSpPr txBox="1"/>
          <p:nvPr/>
        </p:nvSpPr>
        <p:spPr>
          <a:xfrm>
            <a:off x="2880360" y="3977640"/>
            <a:ext cx="1691640" cy="731520"/>
          </a:xfrm>
          <a:prstGeom prst="rect">
            <a:avLst/>
          </a:prstGeom>
          <a:noFill/>
          <a:ln/>
        </p:spPr>
        <p:txBody>
          <a:bodyPr wrap="square" lIns="0" tIns="0" rIns="0" bIns="0" rtlCol="0" anchor="ctr"/>
          <a:lstStyle/>
          <a:p>
            <a:pPr marL="0" indent="0" algn="ctr">
              <a:lnSpc>
                <a:spcPct val="115000"/>
              </a:lnSpc>
              <a:buNone/>
            </a:pPr>
            <a:r>
              <a:rPr lang="en-US" sz="1050" dirty="0">
                <a:solidFill>
                  <a:srgbClr val="16232E"/>
                </a:solidFill>
                <a:latin typeface="Calibri" pitchFamily="34" charset="0"/>
                <a:ea typeface="Calibri" pitchFamily="34" charset="-122"/>
                <a:cs typeface="Calibri" pitchFamily="34" charset="-120"/>
              </a:rPr>
              <a:t>Aggregate dwell times, alerts, daily stats</a:t>
            </a:r>
            <a:endParaRPr lang="en-US" sz="1050" dirty="0"/>
          </a:p>
        </p:txBody>
      </p:sp>
      <p:sp>
        <p:nvSpPr>
          <p:cNvPr id="16" name="Text 14"/>
          <p:cNvSpPr txBox="1"/>
          <p:nvPr/>
        </p:nvSpPr>
        <p:spPr>
          <a:xfrm>
            <a:off x="4709160" y="3291840"/>
            <a:ext cx="228600" cy="640080"/>
          </a:xfrm>
          <a:prstGeom prst="rect">
            <a:avLst/>
          </a:prstGeom>
          <a:noFill/>
          <a:ln/>
        </p:spPr>
        <p:txBody>
          <a:bodyPr wrap="square" lIns="0" tIns="0" rIns="0" bIns="0" rtlCol="0" anchor="ctr"/>
          <a:lstStyle/>
          <a:p>
            <a:pPr marL="0" indent="0" algn="ctr">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937760" y="2468880"/>
            <a:ext cx="1965960" cy="2286000"/>
          </a:xfrm>
          <a:prstGeom prst="roundRect">
            <a:avLst>
              <a:gd name="adj" fmla="val 4651"/>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18" name="Shape 16"/>
          <p:cNvSpPr/>
          <p:nvPr/>
        </p:nvSpPr>
        <p:spPr>
          <a:xfrm>
            <a:off x="5600700" y="2697480"/>
            <a:ext cx="640080" cy="640080"/>
          </a:xfrm>
          <a:prstGeom prst="ellipse">
            <a:avLst/>
          </a:prstGeom>
          <a:solidFill>
            <a:srgbClr val="F2A93B"/>
          </a:solidFill>
          <a:ln/>
        </p:spPr>
        <p:txBody>
          <a:bodyPr/>
          <a:lstStyle/>
          <a:p>
            <a:endParaRPr lang="en-US"/>
          </a:p>
        </p:txBody>
      </p:sp>
      <p:sp>
        <p:nvSpPr>
          <p:cNvPr id="19" name="Text 17"/>
          <p:cNvSpPr txBox="1"/>
          <p:nvPr/>
        </p:nvSpPr>
        <p:spPr>
          <a:xfrm>
            <a:off x="5600700" y="2697480"/>
            <a:ext cx="640080" cy="640080"/>
          </a:xfrm>
          <a:prstGeom prst="rect">
            <a:avLst/>
          </a:prstGeom>
          <a:noFill/>
          <a:ln/>
        </p:spPr>
        <p:txBody>
          <a:bodyPr wrap="square" lIns="0" tIns="0" rIns="0" bIns="0" rtlCol="0" anchor="ctr"/>
          <a:lstStyle/>
          <a:p>
            <a:pPr marL="0" indent="0" algn="ctr">
              <a:buNone/>
            </a:pPr>
            <a:r>
              <a:rPr lang="en-US" sz="1820" b="1" dirty="0">
                <a:solidFill>
                  <a:srgbClr val="0B2E4A"/>
                </a:solidFill>
                <a:latin typeface="Calibri" pitchFamily="34" charset="0"/>
                <a:ea typeface="Calibri" pitchFamily="34" charset="-122"/>
                <a:cs typeface="Calibri" pitchFamily="34" charset="-120"/>
              </a:rPr>
              <a:t>3</a:t>
            </a:r>
            <a:endParaRPr lang="en-US" sz="1820" dirty="0"/>
          </a:p>
        </p:txBody>
      </p:sp>
      <p:sp>
        <p:nvSpPr>
          <p:cNvPr id="20" name="Text 18"/>
          <p:cNvSpPr txBox="1"/>
          <p:nvPr/>
        </p:nvSpPr>
        <p:spPr>
          <a:xfrm>
            <a:off x="5029200" y="3474720"/>
            <a:ext cx="1783080" cy="548640"/>
          </a:xfrm>
          <a:prstGeom prst="rect">
            <a:avLst/>
          </a:prstGeom>
          <a:noFill/>
          <a:ln/>
        </p:spPr>
        <p:txBody>
          <a:bodyPr wrap="square" lIns="0" tIns="0" rIns="0" bIns="0" rtlCol="0" anchor="ctr"/>
          <a:lstStyle/>
          <a:p>
            <a:pPr marL="0" indent="0" algn="ctr">
              <a:buNone/>
            </a:pPr>
            <a:r>
              <a:rPr lang="en-US" sz="1250" b="1" dirty="0">
                <a:solidFill>
                  <a:srgbClr val="0B2E4A"/>
                </a:solidFill>
                <a:latin typeface="Cambria" pitchFamily="34" charset="0"/>
                <a:ea typeface="Cambria" pitchFamily="34" charset="-122"/>
                <a:cs typeface="Cambria" pitchFamily="34" charset="-120"/>
              </a:rPr>
              <a:t>Run AI Clustering</a:t>
            </a:r>
            <a:endParaRPr lang="en-US" sz="1250" dirty="0"/>
          </a:p>
        </p:txBody>
      </p:sp>
      <p:sp>
        <p:nvSpPr>
          <p:cNvPr id="21" name="Text 19"/>
          <p:cNvSpPr txBox="1"/>
          <p:nvPr/>
        </p:nvSpPr>
        <p:spPr>
          <a:xfrm>
            <a:off x="5074920" y="3977640"/>
            <a:ext cx="1691640" cy="731520"/>
          </a:xfrm>
          <a:prstGeom prst="rect">
            <a:avLst/>
          </a:prstGeom>
          <a:noFill/>
          <a:ln/>
        </p:spPr>
        <p:txBody>
          <a:bodyPr wrap="square" lIns="0" tIns="0" rIns="0" bIns="0" rtlCol="0" anchor="ctr"/>
          <a:lstStyle/>
          <a:p>
            <a:pPr marL="0" indent="0" algn="ctr">
              <a:lnSpc>
                <a:spcPct val="115000"/>
              </a:lnSpc>
              <a:buNone/>
            </a:pPr>
            <a:r>
              <a:rPr lang="en-US" sz="1050" dirty="0">
                <a:solidFill>
                  <a:srgbClr val="16232E"/>
                </a:solidFill>
                <a:latin typeface="Calibri" pitchFamily="34" charset="0"/>
                <a:ea typeface="Calibri" pitchFamily="34" charset="-122"/>
                <a:cs typeface="Calibri" pitchFamily="34" charset="-120"/>
              </a:rPr>
              <a:t>Group ships into behavior clusters</a:t>
            </a:r>
            <a:endParaRPr lang="en-US" sz="1050" dirty="0"/>
          </a:p>
        </p:txBody>
      </p:sp>
      <p:sp>
        <p:nvSpPr>
          <p:cNvPr id="22" name="Text 20"/>
          <p:cNvSpPr txBox="1"/>
          <p:nvPr/>
        </p:nvSpPr>
        <p:spPr>
          <a:xfrm>
            <a:off x="6903720" y="3291840"/>
            <a:ext cx="228600" cy="640080"/>
          </a:xfrm>
          <a:prstGeom prst="rect">
            <a:avLst/>
          </a:prstGeom>
          <a:noFill/>
          <a:ln/>
        </p:spPr>
        <p:txBody>
          <a:bodyPr wrap="square" lIns="0" tIns="0" rIns="0" bIns="0" rtlCol="0" anchor="ctr"/>
          <a:lstStyle/>
          <a:p>
            <a:pPr marL="0" indent="0" algn="ctr">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7132320" y="2468880"/>
            <a:ext cx="1965960" cy="2286000"/>
          </a:xfrm>
          <a:prstGeom prst="roundRect">
            <a:avLst>
              <a:gd name="adj" fmla="val 4651"/>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24" name="Shape 22"/>
          <p:cNvSpPr/>
          <p:nvPr/>
        </p:nvSpPr>
        <p:spPr>
          <a:xfrm>
            <a:off x="7795260" y="2697480"/>
            <a:ext cx="640080" cy="640080"/>
          </a:xfrm>
          <a:prstGeom prst="ellipse">
            <a:avLst/>
          </a:prstGeom>
          <a:solidFill>
            <a:srgbClr val="065A82"/>
          </a:solidFill>
          <a:ln/>
        </p:spPr>
        <p:txBody>
          <a:bodyPr/>
          <a:lstStyle/>
          <a:p>
            <a:endParaRPr lang="en-US"/>
          </a:p>
        </p:txBody>
      </p:sp>
      <p:sp>
        <p:nvSpPr>
          <p:cNvPr id="25" name="Text 23"/>
          <p:cNvSpPr txBox="1"/>
          <p:nvPr/>
        </p:nvSpPr>
        <p:spPr>
          <a:xfrm>
            <a:off x="7795260" y="26974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4</a:t>
            </a:r>
            <a:endParaRPr lang="en-US" sz="1820" dirty="0"/>
          </a:p>
        </p:txBody>
      </p:sp>
      <p:sp>
        <p:nvSpPr>
          <p:cNvPr id="26" name="Text 24"/>
          <p:cNvSpPr txBox="1"/>
          <p:nvPr/>
        </p:nvSpPr>
        <p:spPr>
          <a:xfrm>
            <a:off x="7223760" y="3474720"/>
            <a:ext cx="1783080" cy="548640"/>
          </a:xfrm>
          <a:prstGeom prst="rect">
            <a:avLst/>
          </a:prstGeom>
          <a:noFill/>
          <a:ln/>
        </p:spPr>
        <p:txBody>
          <a:bodyPr wrap="square" lIns="0" tIns="0" rIns="0" bIns="0" rtlCol="0" anchor="ctr"/>
          <a:lstStyle/>
          <a:p>
            <a:pPr marL="0" indent="0" algn="ctr">
              <a:buNone/>
            </a:pPr>
            <a:r>
              <a:rPr lang="en-US" sz="1250" b="1" dirty="0">
                <a:solidFill>
                  <a:srgbClr val="0B2E4A"/>
                </a:solidFill>
                <a:latin typeface="Cambria" pitchFamily="34" charset="0"/>
                <a:ea typeface="Cambria" pitchFamily="34" charset="-122"/>
                <a:cs typeface="Cambria" pitchFamily="34" charset="-120"/>
              </a:rPr>
              <a:t>Verify Write</a:t>
            </a:r>
            <a:endParaRPr lang="en-US" sz="1250" dirty="0"/>
          </a:p>
        </p:txBody>
      </p:sp>
      <p:sp>
        <p:nvSpPr>
          <p:cNvPr id="27" name="Text 25"/>
          <p:cNvSpPr txBox="1"/>
          <p:nvPr/>
        </p:nvSpPr>
        <p:spPr>
          <a:xfrm>
            <a:off x="7269480" y="3977640"/>
            <a:ext cx="1691640" cy="731520"/>
          </a:xfrm>
          <a:prstGeom prst="rect">
            <a:avLst/>
          </a:prstGeom>
          <a:noFill/>
          <a:ln/>
        </p:spPr>
        <p:txBody>
          <a:bodyPr wrap="square" lIns="0" tIns="0" rIns="0" bIns="0" rtlCol="0" anchor="ctr"/>
          <a:lstStyle/>
          <a:p>
            <a:pPr marL="0" indent="0" algn="ctr">
              <a:lnSpc>
                <a:spcPct val="115000"/>
              </a:lnSpc>
              <a:buNone/>
            </a:pPr>
            <a:r>
              <a:rPr lang="en-US" sz="1050" dirty="0">
                <a:solidFill>
                  <a:srgbClr val="16232E"/>
                </a:solidFill>
                <a:latin typeface="Calibri" pitchFamily="34" charset="0"/>
                <a:ea typeface="Calibri" pitchFamily="34" charset="-122"/>
                <a:cs typeface="Calibri" pitchFamily="34" charset="-120"/>
              </a:rPr>
              <a:t>Confirm rows landed in PostgreSQL</a:t>
            </a:r>
            <a:endParaRPr lang="en-US" sz="1050" dirty="0"/>
          </a:p>
        </p:txBody>
      </p:sp>
      <p:sp>
        <p:nvSpPr>
          <p:cNvPr id="28" name="Text 26"/>
          <p:cNvSpPr txBox="1"/>
          <p:nvPr/>
        </p:nvSpPr>
        <p:spPr>
          <a:xfrm>
            <a:off x="9098280" y="3291840"/>
            <a:ext cx="228600" cy="640080"/>
          </a:xfrm>
          <a:prstGeom prst="rect">
            <a:avLst/>
          </a:prstGeom>
          <a:noFill/>
          <a:ln/>
        </p:spPr>
        <p:txBody>
          <a:bodyPr wrap="square" lIns="0" tIns="0" rIns="0" bIns="0" rtlCol="0" anchor="ctr"/>
          <a:lstStyle/>
          <a:p>
            <a:pPr marL="0" indent="0" algn="ctr">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9326880" y="2468880"/>
            <a:ext cx="1965960" cy="2286000"/>
          </a:xfrm>
          <a:prstGeom prst="roundRect">
            <a:avLst>
              <a:gd name="adj" fmla="val 4651"/>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30" name="Shape 28"/>
          <p:cNvSpPr/>
          <p:nvPr/>
        </p:nvSpPr>
        <p:spPr>
          <a:xfrm>
            <a:off x="9989820" y="2697480"/>
            <a:ext cx="640080" cy="640080"/>
          </a:xfrm>
          <a:prstGeom prst="ellipse">
            <a:avLst/>
          </a:prstGeom>
          <a:solidFill>
            <a:srgbClr val="065A82"/>
          </a:solidFill>
          <a:ln/>
        </p:spPr>
        <p:txBody>
          <a:bodyPr/>
          <a:lstStyle/>
          <a:p>
            <a:endParaRPr lang="en-US"/>
          </a:p>
        </p:txBody>
      </p:sp>
      <p:sp>
        <p:nvSpPr>
          <p:cNvPr id="31" name="Text 29"/>
          <p:cNvSpPr txBox="1"/>
          <p:nvPr/>
        </p:nvSpPr>
        <p:spPr>
          <a:xfrm>
            <a:off x="9989820" y="26974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5</a:t>
            </a:r>
            <a:endParaRPr lang="en-US" sz="1820" dirty="0"/>
          </a:p>
        </p:txBody>
      </p:sp>
      <p:sp>
        <p:nvSpPr>
          <p:cNvPr id="32" name="Text 30"/>
          <p:cNvSpPr txBox="1"/>
          <p:nvPr/>
        </p:nvSpPr>
        <p:spPr>
          <a:xfrm>
            <a:off x="9418320" y="3474720"/>
            <a:ext cx="1783080" cy="548640"/>
          </a:xfrm>
          <a:prstGeom prst="rect">
            <a:avLst/>
          </a:prstGeom>
          <a:noFill/>
          <a:ln/>
        </p:spPr>
        <p:txBody>
          <a:bodyPr wrap="square" lIns="0" tIns="0" rIns="0" bIns="0" rtlCol="0" anchor="ctr"/>
          <a:lstStyle/>
          <a:p>
            <a:pPr marL="0" indent="0" algn="ctr">
              <a:buNone/>
            </a:pPr>
            <a:r>
              <a:rPr lang="en-US" sz="1250" b="1" dirty="0">
                <a:solidFill>
                  <a:srgbClr val="0B2E4A"/>
                </a:solidFill>
                <a:latin typeface="Cambria" pitchFamily="34" charset="0"/>
                <a:ea typeface="Cambria" pitchFamily="34" charset="-122"/>
                <a:cs typeface="Cambria" pitchFamily="34" charset="-120"/>
              </a:rPr>
              <a:t>Health Check</a:t>
            </a:r>
            <a:endParaRPr lang="en-US" sz="1250" dirty="0"/>
          </a:p>
        </p:txBody>
      </p:sp>
      <p:sp>
        <p:nvSpPr>
          <p:cNvPr id="33" name="Text 31"/>
          <p:cNvSpPr txBox="1"/>
          <p:nvPr/>
        </p:nvSpPr>
        <p:spPr>
          <a:xfrm>
            <a:off x="9464040" y="3977640"/>
            <a:ext cx="1691640" cy="731520"/>
          </a:xfrm>
          <a:prstGeom prst="rect">
            <a:avLst/>
          </a:prstGeom>
          <a:noFill/>
          <a:ln/>
        </p:spPr>
        <p:txBody>
          <a:bodyPr wrap="square" lIns="0" tIns="0" rIns="0" bIns="0" rtlCol="0" anchor="ctr"/>
          <a:lstStyle/>
          <a:p>
            <a:pPr marL="0" indent="0" algn="ctr">
              <a:lnSpc>
                <a:spcPct val="115000"/>
              </a:lnSpc>
              <a:buNone/>
            </a:pPr>
            <a:r>
              <a:rPr lang="en-US" sz="1050" dirty="0">
                <a:solidFill>
                  <a:srgbClr val="16232E"/>
                </a:solidFill>
                <a:latin typeface="Calibri" pitchFamily="34" charset="0"/>
                <a:ea typeface="Calibri" pitchFamily="34" charset="-122"/>
                <a:cs typeface="Calibri" pitchFamily="34" charset="-120"/>
              </a:rPr>
              <a:t>Log the run's success for auditing</a:t>
            </a:r>
            <a:endParaRPr lang="en-US" sz="1050" dirty="0"/>
          </a:p>
        </p:txBody>
      </p:sp>
      <p:sp>
        <p:nvSpPr>
          <p:cNvPr id="34" name="Text 32"/>
          <p:cNvSpPr txBox="1"/>
          <p:nvPr/>
        </p:nvSpPr>
        <p:spPr>
          <a:xfrm>
            <a:off x="548640" y="521208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Idempotent design: old rows are deleted before new ones are inserted, so re-running a day never doubles the data.</a:t>
            </a:r>
            <a:endParaRPr lang="en-US" sz="1200" dirty="0"/>
          </a:p>
        </p:txBody>
      </p:sp>
      <p:sp>
        <p:nvSpPr>
          <p:cNvPr id="35" name="Text 33"/>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LAYER 5 · AI</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Teaching the System to Spot Ship Behavior</a:t>
            </a:r>
            <a:endParaRPr lang="en-US" sz="3200" dirty="0"/>
          </a:p>
        </p:txBody>
      </p:sp>
      <p:sp>
        <p:nvSpPr>
          <p:cNvPr id="4" name="Text 2"/>
          <p:cNvSpPr txBox="1"/>
          <p:nvPr/>
        </p:nvSpPr>
        <p:spPr>
          <a:xfrm>
            <a:off x="548640" y="1508760"/>
            <a:ext cx="11064240" cy="594360"/>
          </a:xfrm>
          <a:prstGeom prst="rect">
            <a:avLst/>
          </a:prstGeom>
          <a:noFill/>
          <a:ln/>
        </p:spPr>
        <p:txBody>
          <a:bodyPr wrap="square" lIns="0" tIns="0" rIns="0" bIns="0" rtlCol="0" anchor="ctr"/>
          <a:lstStyle/>
          <a:p>
            <a:pPr marL="0" indent="0">
              <a:lnSpc>
                <a:spcPct val="120000"/>
              </a:lnSpc>
              <a:buNone/>
            </a:pPr>
            <a:r>
              <a:rPr lang="en-US" sz="1350" dirty="0">
                <a:solidFill>
                  <a:srgbClr val="16232E"/>
                </a:solidFill>
                <a:latin typeface="Calibri" pitchFamily="34" charset="0"/>
                <a:ea typeface="Calibri" pitchFamily="34" charset="-122"/>
                <a:cs typeface="Calibri" pitchFamily="34" charset="-120"/>
              </a:rPr>
              <a:t>We don't tell the model what “normal” looks like — it learns groupings on its own (K-Means) from five simple movement features, then flags ships that don't fit any group.</a:t>
            </a:r>
            <a:endParaRPr lang="en-US" sz="1350" dirty="0"/>
          </a:p>
        </p:txBody>
      </p:sp>
      <p:sp>
        <p:nvSpPr>
          <p:cNvPr id="5" name="Text 3"/>
          <p:cNvSpPr txBox="1"/>
          <p:nvPr/>
        </p:nvSpPr>
        <p:spPr>
          <a:xfrm>
            <a:off x="548640" y="2286000"/>
            <a:ext cx="530352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5 FEATURES FED TO THE MODEL</a:t>
            </a:r>
            <a:endParaRPr lang="en-US" sz="1200" dirty="0"/>
          </a:p>
        </p:txBody>
      </p:sp>
      <p:sp>
        <p:nvSpPr>
          <p:cNvPr id="6" name="Shape 4"/>
          <p:cNvSpPr/>
          <p:nvPr/>
        </p:nvSpPr>
        <p:spPr>
          <a:xfrm>
            <a:off x="548640" y="2697480"/>
            <a:ext cx="5303520" cy="411480"/>
          </a:xfrm>
          <a:prstGeom prst="roundRect">
            <a:avLst>
              <a:gd name="adj" fmla="val 13333"/>
            </a:avLst>
          </a:prstGeom>
          <a:solidFill>
            <a:srgbClr val="FFFFFF"/>
          </a:solidFill>
          <a:ln w="12700">
            <a:solidFill>
              <a:srgbClr val="D7E4EA"/>
            </a:solidFill>
            <a:prstDash val="solid"/>
          </a:ln>
        </p:spPr>
        <p:txBody>
          <a:bodyPr/>
          <a:lstStyle/>
          <a:p>
            <a:endParaRPr lang="en-US"/>
          </a:p>
        </p:txBody>
      </p:sp>
      <p:sp>
        <p:nvSpPr>
          <p:cNvPr id="7" name="Text 5"/>
          <p:cNvSpPr txBox="1"/>
          <p:nvPr/>
        </p:nvSpPr>
        <p:spPr>
          <a:xfrm>
            <a:off x="777240" y="2697480"/>
            <a:ext cx="49377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Average speed</a:t>
            </a:r>
            <a:endParaRPr lang="en-US" sz="1250" dirty="0"/>
          </a:p>
        </p:txBody>
      </p:sp>
      <p:sp>
        <p:nvSpPr>
          <p:cNvPr id="8" name="Shape 6"/>
          <p:cNvSpPr/>
          <p:nvPr/>
        </p:nvSpPr>
        <p:spPr>
          <a:xfrm>
            <a:off x="548640" y="3200400"/>
            <a:ext cx="5303520" cy="411480"/>
          </a:xfrm>
          <a:prstGeom prst="roundRect">
            <a:avLst>
              <a:gd name="adj" fmla="val 13333"/>
            </a:avLst>
          </a:prstGeom>
          <a:solidFill>
            <a:srgbClr val="FFFFFF"/>
          </a:solidFill>
          <a:ln w="12700">
            <a:solidFill>
              <a:srgbClr val="D7E4EA"/>
            </a:solidFill>
            <a:prstDash val="solid"/>
          </a:ln>
        </p:spPr>
        <p:txBody>
          <a:bodyPr/>
          <a:lstStyle/>
          <a:p>
            <a:endParaRPr lang="en-US"/>
          </a:p>
        </p:txBody>
      </p:sp>
      <p:sp>
        <p:nvSpPr>
          <p:cNvPr id="9" name="Text 7"/>
          <p:cNvSpPr txBox="1"/>
          <p:nvPr/>
        </p:nvSpPr>
        <p:spPr>
          <a:xfrm>
            <a:off x="777240" y="3200400"/>
            <a:ext cx="49377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Speed variability</a:t>
            </a:r>
            <a:endParaRPr lang="en-US" sz="1250" dirty="0"/>
          </a:p>
        </p:txBody>
      </p:sp>
      <p:sp>
        <p:nvSpPr>
          <p:cNvPr id="10" name="Shape 8"/>
          <p:cNvSpPr/>
          <p:nvPr/>
        </p:nvSpPr>
        <p:spPr>
          <a:xfrm>
            <a:off x="548640" y="3703320"/>
            <a:ext cx="5303520" cy="411480"/>
          </a:xfrm>
          <a:prstGeom prst="roundRect">
            <a:avLst>
              <a:gd name="adj" fmla="val 13333"/>
            </a:avLst>
          </a:prstGeom>
          <a:solidFill>
            <a:srgbClr val="FFFFFF"/>
          </a:solidFill>
          <a:ln w="12700">
            <a:solidFill>
              <a:srgbClr val="D7E4EA"/>
            </a:solidFill>
            <a:prstDash val="solid"/>
          </a:ln>
        </p:spPr>
        <p:txBody>
          <a:bodyPr/>
          <a:lstStyle/>
          <a:p>
            <a:endParaRPr lang="en-US"/>
          </a:p>
        </p:txBody>
      </p:sp>
      <p:sp>
        <p:nvSpPr>
          <p:cNvPr id="11" name="Text 9"/>
          <p:cNvSpPr txBox="1"/>
          <p:nvPr/>
        </p:nvSpPr>
        <p:spPr>
          <a:xfrm>
            <a:off x="777240" y="3703320"/>
            <a:ext cx="49377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Course changes</a:t>
            </a:r>
            <a:endParaRPr lang="en-US" sz="1250" dirty="0"/>
          </a:p>
        </p:txBody>
      </p:sp>
      <p:sp>
        <p:nvSpPr>
          <p:cNvPr id="12" name="Shape 10"/>
          <p:cNvSpPr/>
          <p:nvPr/>
        </p:nvSpPr>
        <p:spPr>
          <a:xfrm>
            <a:off x="548640" y="4206240"/>
            <a:ext cx="5303520" cy="411480"/>
          </a:xfrm>
          <a:prstGeom prst="roundRect">
            <a:avLst>
              <a:gd name="adj" fmla="val 13333"/>
            </a:avLst>
          </a:prstGeom>
          <a:solidFill>
            <a:srgbClr val="FFFFFF"/>
          </a:solidFill>
          <a:ln w="12700">
            <a:solidFill>
              <a:srgbClr val="D7E4EA"/>
            </a:solidFill>
            <a:prstDash val="solid"/>
          </a:ln>
        </p:spPr>
        <p:txBody>
          <a:bodyPr/>
          <a:lstStyle/>
          <a:p>
            <a:endParaRPr lang="en-US"/>
          </a:p>
        </p:txBody>
      </p:sp>
      <p:sp>
        <p:nvSpPr>
          <p:cNvPr id="13" name="Text 11"/>
          <p:cNvSpPr txBox="1"/>
          <p:nvPr/>
        </p:nvSpPr>
        <p:spPr>
          <a:xfrm>
            <a:off x="777240" y="4206240"/>
            <a:ext cx="49377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Time near port</a:t>
            </a:r>
            <a:endParaRPr lang="en-US" sz="1250" dirty="0"/>
          </a:p>
        </p:txBody>
      </p:sp>
      <p:sp>
        <p:nvSpPr>
          <p:cNvPr id="14" name="Shape 12"/>
          <p:cNvSpPr/>
          <p:nvPr/>
        </p:nvSpPr>
        <p:spPr>
          <a:xfrm>
            <a:off x="548640" y="4709160"/>
            <a:ext cx="5303520" cy="411480"/>
          </a:xfrm>
          <a:prstGeom prst="roundRect">
            <a:avLst>
              <a:gd name="adj" fmla="val 13333"/>
            </a:avLst>
          </a:prstGeom>
          <a:solidFill>
            <a:srgbClr val="FFFFFF"/>
          </a:solidFill>
          <a:ln w="12700">
            <a:solidFill>
              <a:srgbClr val="D7E4EA"/>
            </a:solidFill>
            <a:prstDash val="solid"/>
          </a:ln>
        </p:spPr>
        <p:txBody>
          <a:bodyPr/>
          <a:lstStyle/>
          <a:p>
            <a:endParaRPr lang="en-US"/>
          </a:p>
        </p:txBody>
      </p:sp>
      <p:sp>
        <p:nvSpPr>
          <p:cNvPr id="15" name="Text 13"/>
          <p:cNvSpPr txBox="1"/>
          <p:nvPr/>
        </p:nvSpPr>
        <p:spPr>
          <a:xfrm>
            <a:off x="777240" y="4709160"/>
            <a:ext cx="493776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Distance traveled</a:t>
            </a:r>
            <a:endParaRPr lang="en-US" sz="1250" dirty="0"/>
          </a:p>
        </p:txBody>
      </p:sp>
      <p:sp>
        <p:nvSpPr>
          <p:cNvPr id="16" name="Shape 14"/>
          <p:cNvSpPr/>
          <p:nvPr/>
        </p:nvSpPr>
        <p:spPr>
          <a:xfrm>
            <a:off x="6172200" y="2286000"/>
            <a:ext cx="5440680" cy="868680"/>
          </a:xfrm>
          <a:prstGeom prst="roundRect">
            <a:avLst>
              <a:gd name="adj" fmla="val 8421"/>
            </a:avLst>
          </a:prstGeom>
          <a:solidFill>
            <a:srgbClr val="065A82"/>
          </a:solidFill>
          <a:ln/>
        </p:spPr>
        <p:txBody>
          <a:bodyPr/>
          <a:lstStyle/>
          <a:p>
            <a:endParaRPr lang="en-US"/>
          </a:p>
        </p:txBody>
      </p:sp>
      <p:sp>
        <p:nvSpPr>
          <p:cNvPr id="17" name="Text 15"/>
          <p:cNvSpPr txBox="1"/>
          <p:nvPr/>
        </p:nvSpPr>
        <p:spPr>
          <a:xfrm>
            <a:off x="6400800" y="2377440"/>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Standardize</a:t>
            </a:r>
            <a:endParaRPr lang="en-US" sz="1300" dirty="0"/>
          </a:p>
        </p:txBody>
      </p:sp>
      <p:sp>
        <p:nvSpPr>
          <p:cNvPr id="18" name="Text 16"/>
          <p:cNvSpPr txBox="1"/>
          <p:nvPr/>
        </p:nvSpPr>
        <p:spPr>
          <a:xfrm>
            <a:off x="6400800" y="2697480"/>
            <a:ext cx="5029200" cy="411480"/>
          </a:xfrm>
          <a:prstGeom prst="rect">
            <a:avLst/>
          </a:prstGeom>
          <a:noFill/>
          <a:ln/>
        </p:spPr>
        <p:txBody>
          <a:bodyPr wrap="square" lIns="0" tIns="0" rIns="0" bIns="0" rtlCol="0" anchor="ctr"/>
          <a:lstStyle/>
          <a:p>
            <a:pPr marL="0" indent="0">
              <a:lnSpc>
                <a:spcPct val="110000"/>
              </a:lnSpc>
              <a:buNone/>
            </a:pPr>
            <a:r>
              <a:rPr lang="en-US" sz="1100" dirty="0">
                <a:solidFill>
                  <a:srgbClr val="CFE8F0"/>
                </a:solidFill>
                <a:latin typeface="Calibri" pitchFamily="34" charset="0"/>
                <a:ea typeface="Calibri" pitchFamily="34" charset="-122"/>
                <a:cs typeface="Calibri" pitchFamily="34" charset="-120"/>
              </a:rPr>
              <a:t>Scale all 5 features fairly so speed doesn't outweigh course changes</a:t>
            </a:r>
            <a:endParaRPr lang="en-US" sz="1100" dirty="0"/>
          </a:p>
        </p:txBody>
      </p:sp>
      <p:sp>
        <p:nvSpPr>
          <p:cNvPr id="19" name="Shape 17"/>
          <p:cNvSpPr/>
          <p:nvPr/>
        </p:nvSpPr>
        <p:spPr>
          <a:xfrm>
            <a:off x="6172200" y="3227832"/>
            <a:ext cx="5440680" cy="868680"/>
          </a:xfrm>
          <a:prstGeom prst="roundRect">
            <a:avLst>
              <a:gd name="adj" fmla="val 8421"/>
            </a:avLst>
          </a:prstGeom>
          <a:solidFill>
            <a:srgbClr val="065A82"/>
          </a:solidFill>
          <a:ln/>
        </p:spPr>
        <p:txBody>
          <a:bodyPr/>
          <a:lstStyle/>
          <a:p>
            <a:endParaRPr lang="en-US"/>
          </a:p>
        </p:txBody>
      </p:sp>
      <p:sp>
        <p:nvSpPr>
          <p:cNvPr id="20" name="Text 18"/>
          <p:cNvSpPr txBox="1"/>
          <p:nvPr/>
        </p:nvSpPr>
        <p:spPr>
          <a:xfrm>
            <a:off x="6400800" y="3319272"/>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Find best K</a:t>
            </a:r>
            <a:endParaRPr lang="en-US" sz="1300" dirty="0"/>
          </a:p>
        </p:txBody>
      </p:sp>
      <p:sp>
        <p:nvSpPr>
          <p:cNvPr id="21" name="Text 19"/>
          <p:cNvSpPr txBox="1"/>
          <p:nvPr/>
        </p:nvSpPr>
        <p:spPr>
          <a:xfrm>
            <a:off x="6400800" y="3639312"/>
            <a:ext cx="5029200" cy="411480"/>
          </a:xfrm>
          <a:prstGeom prst="rect">
            <a:avLst/>
          </a:prstGeom>
          <a:noFill/>
          <a:ln/>
        </p:spPr>
        <p:txBody>
          <a:bodyPr wrap="square" lIns="0" tIns="0" rIns="0" bIns="0" rtlCol="0" anchor="ctr"/>
          <a:lstStyle/>
          <a:p>
            <a:pPr marL="0" indent="0">
              <a:lnSpc>
                <a:spcPct val="110000"/>
              </a:lnSpc>
              <a:buNone/>
            </a:pPr>
            <a:r>
              <a:rPr lang="en-US" sz="1100" dirty="0">
                <a:solidFill>
                  <a:srgbClr val="CFE8F0"/>
                </a:solidFill>
                <a:latin typeface="Calibri" pitchFamily="34" charset="0"/>
                <a:ea typeface="Calibri" pitchFamily="34" charset="-122"/>
                <a:cs typeface="Calibri" pitchFamily="34" charset="-120"/>
              </a:rPr>
              <a:t>Use the “elbow method” to pick the right number of groups</a:t>
            </a:r>
            <a:endParaRPr lang="en-US" sz="1100" dirty="0"/>
          </a:p>
        </p:txBody>
      </p:sp>
      <p:sp>
        <p:nvSpPr>
          <p:cNvPr id="22" name="Shape 20"/>
          <p:cNvSpPr/>
          <p:nvPr/>
        </p:nvSpPr>
        <p:spPr>
          <a:xfrm>
            <a:off x="6172200" y="4169664"/>
            <a:ext cx="5440680" cy="868680"/>
          </a:xfrm>
          <a:prstGeom prst="roundRect">
            <a:avLst>
              <a:gd name="adj" fmla="val 8421"/>
            </a:avLst>
          </a:prstGeom>
          <a:solidFill>
            <a:srgbClr val="065A82"/>
          </a:solidFill>
          <a:ln/>
        </p:spPr>
        <p:txBody>
          <a:bodyPr/>
          <a:lstStyle/>
          <a:p>
            <a:endParaRPr lang="en-US"/>
          </a:p>
        </p:txBody>
      </p:sp>
      <p:sp>
        <p:nvSpPr>
          <p:cNvPr id="23" name="Text 21"/>
          <p:cNvSpPr txBox="1"/>
          <p:nvPr/>
        </p:nvSpPr>
        <p:spPr>
          <a:xfrm>
            <a:off x="6400800" y="4261104"/>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Cluster &amp; Score</a:t>
            </a:r>
            <a:endParaRPr lang="en-US" sz="1300" dirty="0"/>
          </a:p>
        </p:txBody>
      </p:sp>
      <p:sp>
        <p:nvSpPr>
          <p:cNvPr id="24" name="Text 22"/>
          <p:cNvSpPr txBox="1"/>
          <p:nvPr/>
        </p:nvSpPr>
        <p:spPr>
          <a:xfrm>
            <a:off x="6400800" y="4581144"/>
            <a:ext cx="5029200" cy="411480"/>
          </a:xfrm>
          <a:prstGeom prst="rect">
            <a:avLst/>
          </a:prstGeom>
          <a:noFill/>
          <a:ln/>
        </p:spPr>
        <p:txBody>
          <a:bodyPr wrap="square" lIns="0" tIns="0" rIns="0" bIns="0" rtlCol="0" anchor="ctr"/>
          <a:lstStyle/>
          <a:p>
            <a:pPr marL="0" indent="0">
              <a:lnSpc>
                <a:spcPct val="110000"/>
              </a:lnSpc>
              <a:buNone/>
            </a:pPr>
            <a:r>
              <a:rPr lang="en-US" sz="1100" dirty="0">
                <a:solidFill>
                  <a:srgbClr val="CFE8F0"/>
                </a:solidFill>
                <a:latin typeface="Calibri" pitchFamily="34" charset="0"/>
                <a:ea typeface="Calibri" pitchFamily="34" charset="-122"/>
                <a:cs typeface="Calibri" pitchFamily="34" charset="-120"/>
              </a:rPr>
              <a:t>Assign each ship a group, then measure distance from its group's center</a:t>
            </a:r>
            <a:endParaRPr lang="en-US" sz="1100" dirty="0"/>
          </a:p>
        </p:txBody>
      </p:sp>
      <p:sp>
        <p:nvSpPr>
          <p:cNvPr id="25" name="Shape 23"/>
          <p:cNvSpPr/>
          <p:nvPr/>
        </p:nvSpPr>
        <p:spPr>
          <a:xfrm>
            <a:off x="6172200" y="5111496"/>
            <a:ext cx="5440680" cy="868680"/>
          </a:xfrm>
          <a:prstGeom prst="roundRect">
            <a:avLst>
              <a:gd name="adj" fmla="val 8421"/>
            </a:avLst>
          </a:prstGeom>
          <a:solidFill>
            <a:srgbClr val="F2A93B"/>
          </a:solidFill>
          <a:ln/>
        </p:spPr>
        <p:txBody>
          <a:bodyPr/>
          <a:lstStyle/>
          <a:p>
            <a:endParaRPr lang="en-US"/>
          </a:p>
        </p:txBody>
      </p:sp>
      <p:sp>
        <p:nvSpPr>
          <p:cNvPr id="26" name="Text 24"/>
          <p:cNvSpPr txBox="1"/>
          <p:nvPr/>
        </p:nvSpPr>
        <p:spPr>
          <a:xfrm>
            <a:off x="6400800" y="5202936"/>
            <a:ext cx="5029200" cy="320040"/>
          </a:xfrm>
          <a:prstGeom prst="rect">
            <a:avLst/>
          </a:prstGeom>
          <a:noFill/>
          <a:ln/>
        </p:spPr>
        <p:txBody>
          <a:bodyPr wrap="square" lIns="0" tIns="0" rIns="0" bIns="0" rtlCol="0" anchor="ctr"/>
          <a:lstStyle/>
          <a:p>
            <a:pPr marL="0" indent="0">
              <a:buNone/>
            </a:pPr>
            <a:r>
              <a:rPr lang="en-US" sz="1300" b="1" dirty="0">
                <a:solidFill>
                  <a:srgbClr val="0B2E4A"/>
                </a:solidFill>
                <a:latin typeface="Calibri" pitchFamily="34" charset="0"/>
                <a:ea typeface="Calibri" pitchFamily="34" charset="-122"/>
                <a:cs typeface="Calibri" pitchFamily="34" charset="-120"/>
              </a:rPr>
              <a:t>Flag Anomalies</a:t>
            </a:r>
            <a:endParaRPr lang="en-US" sz="1300" dirty="0"/>
          </a:p>
        </p:txBody>
      </p:sp>
      <p:sp>
        <p:nvSpPr>
          <p:cNvPr id="27" name="Text 25"/>
          <p:cNvSpPr txBox="1"/>
          <p:nvPr/>
        </p:nvSpPr>
        <p:spPr>
          <a:xfrm>
            <a:off x="6400800" y="5522976"/>
            <a:ext cx="5029200" cy="411480"/>
          </a:xfrm>
          <a:prstGeom prst="rect">
            <a:avLst/>
          </a:prstGeom>
          <a:noFill/>
          <a:ln/>
        </p:spPr>
        <p:txBody>
          <a:bodyPr wrap="square" lIns="0" tIns="0" rIns="0" bIns="0" rtlCol="0" anchor="ctr"/>
          <a:lstStyle/>
          <a:p>
            <a:pPr marL="0" indent="0">
              <a:lnSpc>
                <a:spcPct val="110000"/>
              </a:lnSpc>
              <a:buNone/>
            </a:pPr>
            <a:r>
              <a:rPr lang="en-US" sz="1100" dirty="0">
                <a:solidFill>
                  <a:srgbClr val="0B2E4A"/>
                </a:solidFill>
                <a:latin typeface="Calibri" pitchFamily="34" charset="0"/>
                <a:ea typeface="Calibri" pitchFamily="34" charset="-122"/>
                <a:cs typeface="Calibri" pitchFamily="34" charset="-120"/>
              </a:rPr>
              <a:t>Distances beyond ~2.5–3 standard deviations are flagged for review</a:t>
            </a:r>
            <a:endParaRPr lang="en-US" sz="1100" dirty="0"/>
          </a:p>
        </p:txBody>
      </p:sp>
      <p:sp>
        <p:nvSpPr>
          <p:cNvPr id="28" name="Text 26"/>
          <p:cNvSpPr txBox="1"/>
          <p:nvPr/>
        </p:nvSpPr>
        <p:spPr>
          <a:xfrm>
            <a:off x="548640" y="6080760"/>
            <a:ext cx="1106424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Standardizing matters: without it, speed (measured in knots) would dominate over course changes (measured in degrees) purely due to scale.</a:t>
            </a:r>
            <a:endParaRPr lang="en-US" sz="1200" dirty="0"/>
          </a:p>
        </p:txBody>
      </p:sp>
      <p:sp>
        <p:nvSpPr>
          <p:cNvPr id="29" name="Text 27"/>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UNDER THE HOOD</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14 Tables — Three That Matter Most</a:t>
            </a:r>
            <a:endParaRPr lang="en-US" sz="3200" dirty="0"/>
          </a:p>
        </p:txBody>
      </p:sp>
      <p:sp>
        <p:nvSpPr>
          <p:cNvPr id="4" name="Text 2"/>
          <p:cNvSpPr txBox="1"/>
          <p:nvPr/>
        </p:nvSpPr>
        <p:spPr>
          <a:xfrm>
            <a:off x="548640" y="1508760"/>
            <a:ext cx="11064240" cy="548640"/>
          </a:xfrm>
          <a:prstGeom prst="rect">
            <a:avLst/>
          </a:prstGeom>
          <a:noFill/>
          <a:ln/>
        </p:spPr>
        <p:txBody>
          <a:bodyPr wrap="square" lIns="0" tIns="0" rIns="0" bIns="0" rtlCol="0" anchor="ctr"/>
          <a:lstStyle/>
          <a:p>
            <a:pPr marL="0" indent="0">
              <a:lnSpc>
                <a:spcPct val="120000"/>
              </a:lnSpc>
              <a:buNone/>
            </a:pPr>
            <a:r>
              <a:rPr lang="en-US" sz="1350" dirty="0">
                <a:solidFill>
                  <a:srgbClr val="16232E"/>
                </a:solidFill>
                <a:latin typeface="Calibri" pitchFamily="34" charset="0"/>
                <a:ea typeface="Calibri" pitchFamily="34" charset="-122"/>
                <a:cs typeface="Calibri" pitchFamily="34" charset="-120"/>
              </a:rPr>
              <a:t>The serving database holds 14 tables in total. Three carry the platform's core value; the rest support them with reference data and operational logs.</a:t>
            </a:r>
            <a:endParaRPr lang="en-US" sz="1350" dirty="0"/>
          </a:p>
        </p:txBody>
      </p:sp>
      <p:sp>
        <p:nvSpPr>
          <p:cNvPr id="5" name="Shape 3"/>
          <p:cNvSpPr/>
          <p:nvPr/>
        </p:nvSpPr>
        <p:spPr>
          <a:xfrm>
            <a:off x="548640" y="2331720"/>
            <a:ext cx="3520440" cy="2286000"/>
          </a:xfrm>
          <a:prstGeom prst="roundRect">
            <a:avLst>
              <a:gd name="adj" fmla="val 4000"/>
            </a:avLst>
          </a:prstGeom>
          <a:solidFill>
            <a:srgbClr val="065A82"/>
          </a:solidFill>
          <a:ln/>
        </p:spPr>
        <p:txBody>
          <a:bodyPr/>
          <a:lstStyle/>
          <a:p>
            <a:endParaRPr lang="en-US"/>
          </a:p>
        </p:txBody>
      </p:sp>
      <p:sp>
        <p:nvSpPr>
          <p:cNvPr id="6" name="Text 4"/>
          <p:cNvSpPr txBox="1"/>
          <p:nvPr/>
        </p:nvSpPr>
        <p:spPr>
          <a:xfrm>
            <a:off x="777240" y="2560320"/>
            <a:ext cx="306324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active_fleet_state</a:t>
            </a:r>
            <a:endParaRPr lang="en-US" sz="1500" dirty="0"/>
          </a:p>
        </p:txBody>
      </p:sp>
      <p:sp>
        <p:nvSpPr>
          <p:cNvPr id="7" name="Shape 5"/>
          <p:cNvSpPr/>
          <p:nvPr/>
        </p:nvSpPr>
        <p:spPr>
          <a:xfrm>
            <a:off x="777240" y="3200400"/>
            <a:ext cx="3063240" cy="0"/>
          </a:xfrm>
          <a:prstGeom prst="line">
            <a:avLst/>
          </a:prstGeom>
          <a:noFill/>
          <a:ln w="9525">
            <a:solidFill>
              <a:srgbClr val="FFFFFF">
                <a:alpha val="55000"/>
              </a:srgbClr>
            </a:solidFill>
            <a:prstDash val="solid"/>
          </a:ln>
        </p:spPr>
        <p:txBody>
          <a:bodyPr/>
          <a:lstStyle/>
          <a:p>
            <a:endParaRPr lang="en-US"/>
          </a:p>
        </p:txBody>
      </p:sp>
      <p:sp>
        <p:nvSpPr>
          <p:cNvPr id="8" name="Text 6"/>
          <p:cNvSpPr txBox="1"/>
          <p:nvPr/>
        </p:nvSpPr>
        <p:spPr>
          <a:xfrm>
            <a:off x="777240" y="3337560"/>
            <a:ext cx="3063240" cy="27432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KEY</a:t>
            </a:r>
            <a:endParaRPr lang="en-US" sz="1000" dirty="0"/>
          </a:p>
        </p:txBody>
      </p:sp>
      <p:sp>
        <p:nvSpPr>
          <p:cNvPr id="9" name="Text 7"/>
          <p:cNvSpPr txBox="1"/>
          <p:nvPr/>
        </p:nvSpPr>
        <p:spPr>
          <a:xfrm>
            <a:off x="777240" y="3611880"/>
            <a:ext cx="3063240" cy="365760"/>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mmsi (ship ID)</a:t>
            </a:r>
            <a:endParaRPr lang="en-US" sz="1200" dirty="0"/>
          </a:p>
        </p:txBody>
      </p:sp>
      <p:sp>
        <p:nvSpPr>
          <p:cNvPr id="10" name="Text 8"/>
          <p:cNvSpPr txBox="1"/>
          <p:nvPr/>
        </p:nvSpPr>
        <p:spPr>
          <a:xfrm>
            <a:off x="777240" y="3977640"/>
            <a:ext cx="3063240" cy="27432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HIGHLIGHT COLUMN</a:t>
            </a:r>
            <a:endParaRPr lang="en-US" sz="1000" dirty="0"/>
          </a:p>
        </p:txBody>
      </p:sp>
      <p:sp>
        <p:nvSpPr>
          <p:cNvPr id="11" name="Text 9"/>
          <p:cNvSpPr txBox="1"/>
          <p:nvPr/>
        </p:nvSpPr>
        <p:spPr>
          <a:xfrm>
            <a:off x="777240" y="4233672"/>
            <a:ext cx="3063240" cy="411480"/>
          </a:xfrm>
          <a:prstGeom prst="rect">
            <a:avLst/>
          </a:prstGeom>
          <a:noFill/>
          <a:ln/>
        </p:spPr>
        <p:txBody>
          <a:bodyPr wrap="square" lIns="0" tIns="0" rIns="0" bIns="0" rtlCol="0" anchor="ctr"/>
          <a:lstStyle/>
          <a:p>
            <a:pPr marL="0" indent="0">
              <a:lnSpc>
                <a:spcPct val="110000"/>
              </a:lnSpc>
              <a:buNone/>
            </a:pPr>
            <a:r>
              <a:rPr lang="en-US" sz="1100" dirty="0">
                <a:solidFill>
                  <a:srgbClr val="CFE8F0"/>
                </a:solidFill>
                <a:latin typeface="Calibri" pitchFamily="34" charset="0"/>
                <a:ea typeface="Calibri" pitchFamily="34" charset="-122"/>
                <a:cs typeface="Calibri" pitchFamily="34" charset="-120"/>
              </a:rPr>
              <a:t>geom — live lat/lon position</a:t>
            </a:r>
            <a:endParaRPr lang="en-US" sz="1100" dirty="0"/>
          </a:p>
        </p:txBody>
      </p:sp>
      <p:sp>
        <p:nvSpPr>
          <p:cNvPr id="12" name="Shape 10"/>
          <p:cNvSpPr/>
          <p:nvPr/>
        </p:nvSpPr>
        <p:spPr>
          <a:xfrm>
            <a:off x="4343400" y="2331720"/>
            <a:ext cx="3520440" cy="2286000"/>
          </a:xfrm>
          <a:prstGeom prst="roundRect">
            <a:avLst>
              <a:gd name="adj" fmla="val 4000"/>
            </a:avLst>
          </a:prstGeom>
          <a:solidFill>
            <a:srgbClr val="1C7293"/>
          </a:solidFill>
          <a:ln/>
        </p:spPr>
        <p:txBody>
          <a:bodyPr/>
          <a:lstStyle/>
          <a:p>
            <a:endParaRPr lang="en-US"/>
          </a:p>
        </p:txBody>
      </p:sp>
      <p:sp>
        <p:nvSpPr>
          <p:cNvPr id="13" name="Text 11"/>
          <p:cNvSpPr txBox="1"/>
          <p:nvPr/>
        </p:nvSpPr>
        <p:spPr>
          <a:xfrm>
            <a:off x="4572000" y="2560320"/>
            <a:ext cx="306324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port_dwell_times</a:t>
            </a:r>
            <a:endParaRPr lang="en-US" sz="1500" dirty="0"/>
          </a:p>
        </p:txBody>
      </p:sp>
      <p:sp>
        <p:nvSpPr>
          <p:cNvPr id="14" name="Shape 12"/>
          <p:cNvSpPr/>
          <p:nvPr/>
        </p:nvSpPr>
        <p:spPr>
          <a:xfrm>
            <a:off x="4572000" y="3200400"/>
            <a:ext cx="3063240" cy="0"/>
          </a:xfrm>
          <a:prstGeom prst="line">
            <a:avLst/>
          </a:prstGeom>
          <a:noFill/>
          <a:ln w="9525">
            <a:solidFill>
              <a:srgbClr val="FFFFFF">
                <a:alpha val="55000"/>
              </a:srgbClr>
            </a:solidFill>
            <a:prstDash val="solid"/>
          </a:ln>
        </p:spPr>
        <p:txBody>
          <a:bodyPr/>
          <a:lstStyle/>
          <a:p>
            <a:endParaRPr lang="en-US"/>
          </a:p>
        </p:txBody>
      </p:sp>
      <p:sp>
        <p:nvSpPr>
          <p:cNvPr id="15" name="Text 13"/>
          <p:cNvSpPr txBox="1"/>
          <p:nvPr/>
        </p:nvSpPr>
        <p:spPr>
          <a:xfrm>
            <a:off x="4572000" y="3337560"/>
            <a:ext cx="3063240" cy="27432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KEY</a:t>
            </a:r>
            <a:endParaRPr lang="en-US" sz="1000" dirty="0"/>
          </a:p>
        </p:txBody>
      </p:sp>
      <p:sp>
        <p:nvSpPr>
          <p:cNvPr id="16" name="Text 14"/>
          <p:cNvSpPr txBox="1"/>
          <p:nvPr/>
        </p:nvSpPr>
        <p:spPr>
          <a:xfrm>
            <a:off x="4572000" y="3611880"/>
            <a:ext cx="3063240" cy="365760"/>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mmsi + port_id</a:t>
            </a:r>
            <a:endParaRPr lang="en-US" sz="1200" dirty="0"/>
          </a:p>
        </p:txBody>
      </p:sp>
      <p:sp>
        <p:nvSpPr>
          <p:cNvPr id="17" name="Text 15"/>
          <p:cNvSpPr txBox="1"/>
          <p:nvPr/>
        </p:nvSpPr>
        <p:spPr>
          <a:xfrm>
            <a:off x="4572000" y="3977640"/>
            <a:ext cx="3063240" cy="27432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HIGHLIGHT COLUMN</a:t>
            </a:r>
            <a:endParaRPr lang="en-US" sz="1000" dirty="0"/>
          </a:p>
        </p:txBody>
      </p:sp>
      <p:sp>
        <p:nvSpPr>
          <p:cNvPr id="18" name="Text 16"/>
          <p:cNvSpPr txBox="1"/>
          <p:nvPr/>
        </p:nvSpPr>
        <p:spPr>
          <a:xfrm>
            <a:off x="4572000" y="4233672"/>
            <a:ext cx="3063240" cy="411480"/>
          </a:xfrm>
          <a:prstGeom prst="rect">
            <a:avLst/>
          </a:prstGeom>
          <a:noFill/>
          <a:ln/>
        </p:spPr>
        <p:txBody>
          <a:bodyPr wrap="square" lIns="0" tIns="0" rIns="0" bIns="0" rtlCol="0" anchor="ctr"/>
          <a:lstStyle/>
          <a:p>
            <a:pPr marL="0" indent="0">
              <a:lnSpc>
                <a:spcPct val="110000"/>
              </a:lnSpc>
              <a:buNone/>
            </a:pPr>
            <a:r>
              <a:rPr lang="en-US" sz="1100" dirty="0">
                <a:solidFill>
                  <a:srgbClr val="CFE8F0"/>
                </a:solidFill>
                <a:latin typeface="Calibri" pitchFamily="34" charset="0"/>
                <a:ea typeface="Calibri" pitchFamily="34" charset="-122"/>
                <a:cs typeface="Calibri" pitchFamily="34" charset="-120"/>
              </a:rPr>
              <a:t>dwell_minutes — time spent in port</a:t>
            </a:r>
            <a:endParaRPr lang="en-US" sz="1100" dirty="0"/>
          </a:p>
        </p:txBody>
      </p:sp>
      <p:sp>
        <p:nvSpPr>
          <p:cNvPr id="19" name="Shape 17"/>
          <p:cNvSpPr/>
          <p:nvPr/>
        </p:nvSpPr>
        <p:spPr>
          <a:xfrm>
            <a:off x="8138160" y="2331720"/>
            <a:ext cx="3520440" cy="2286000"/>
          </a:xfrm>
          <a:prstGeom prst="roundRect">
            <a:avLst>
              <a:gd name="adj" fmla="val 4000"/>
            </a:avLst>
          </a:prstGeom>
          <a:solidFill>
            <a:srgbClr val="F2A93B"/>
          </a:solidFill>
          <a:ln/>
        </p:spPr>
        <p:txBody>
          <a:bodyPr/>
          <a:lstStyle/>
          <a:p>
            <a:endParaRPr lang="en-US"/>
          </a:p>
        </p:txBody>
      </p:sp>
      <p:sp>
        <p:nvSpPr>
          <p:cNvPr id="20" name="Text 18"/>
          <p:cNvSpPr txBox="1"/>
          <p:nvPr/>
        </p:nvSpPr>
        <p:spPr>
          <a:xfrm>
            <a:off x="8366760" y="2560320"/>
            <a:ext cx="3063240" cy="548640"/>
          </a:xfrm>
          <a:prstGeom prst="rect">
            <a:avLst/>
          </a:prstGeom>
          <a:noFill/>
          <a:ln/>
        </p:spPr>
        <p:txBody>
          <a:bodyPr wrap="square" lIns="0" tIns="0" rIns="0" bIns="0" rtlCol="0" anchor="ctr"/>
          <a:lstStyle/>
          <a:p>
            <a:pPr marL="0" indent="0">
              <a:buNone/>
            </a:pPr>
            <a:r>
              <a:rPr lang="en-US" sz="1500" b="1" dirty="0">
                <a:solidFill>
                  <a:srgbClr val="0B2E4A"/>
                </a:solidFill>
                <a:latin typeface="Cambria" pitchFamily="34" charset="0"/>
                <a:ea typeface="Cambria" pitchFamily="34" charset="-122"/>
                <a:cs typeface="Cambria" pitchFamily="34" charset="-120"/>
              </a:rPr>
              <a:t>vessel_behavior_clusters</a:t>
            </a:r>
            <a:endParaRPr lang="en-US" sz="1500" dirty="0"/>
          </a:p>
        </p:txBody>
      </p:sp>
      <p:sp>
        <p:nvSpPr>
          <p:cNvPr id="21" name="Shape 19"/>
          <p:cNvSpPr/>
          <p:nvPr/>
        </p:nvSpPr>
        <p:spPr>
          <a:xfrm>
            <a:off x="8366760" y="3200400"/>
            <a:ext cx="3063240" cy="0"/>
          </a:xfrm>
          <a:prstGeom prst="line">
            <a:avLst/>
          </a:prstGeom>
          <a:noFill/>
          <a:ln w="9525">
            <a:solidFill>
              <a:srgbClr val="0B2E4A">
                <a:alpha val="55000"/>
              </a:srgbClr>
            </a:solidFill>
            <a:prstDash val="solid"/>
          </a:ln>
        </p:spPr>
        <p:txBody>
          <a:bodyPr/>
          <a:lstStyle/>
          <a:p>
            <a:endParaRPr lang="en-US"/>
          </a:p>
        </p:txBody>
      </p:sp>
      <p:sp>
        <p:nvSpPr>
          <p:cNvPr id="22" name="Text 20"/>
          <p:cNvSpPr txBox="1"/>
          <p:nvPr/>
        </p:nvSpPr>
        <p:spPr>
          <a:xfrm>
            <a:off x="8366760" y="3337560"/>
            <a:ext cx="3063240" cy="274320"/>
          </a:xfrm>
          <a:prstGeom prst="rect">
            <a:avLst/>
          </a:prstGeom>
          <a:noFill/>
          <a:ln/>
        </p:spPr>
        <p:txBody>
          <a:bodyPr wrap="square" lIns="0" tIns="0" rIns="0" bIns="0" rtlCol="0" anchor="ctr"/>
          <a:lstStyle/>
          <a:p>
            <a:pPr marL="0" indent="0">
              <a:buNone/>
            </a:pPr>
            <a:r>
              <a:rPr lang="en-US" sz="1000" b="1" kern="0" spc="100" dirty="0">
                <a:solidFill>
                  <a:srgbClr val="0B2E4A"/>
                </a:solidFill>
                <a:latin typeface="Calibri" pitchFamily="34" charset="0"/>
                <a:ea typeface="Calibri" pitchFamily="34" charset="-122"/>
                <a:cs typeface="Calibri" pitchFamily="34" charset="-120"/>
              </a:rPr>
              <a:t>KEY</a:t>
            </a:r>
            <a:endParaRPr lang="en-US" sz="1000" dirty="0"/>
          </a:p>
        </p:txBody>
      </p:sp>
      <p:sp>
        <p:nvSpPr>
          <p:cNvPr id="23" name="Text 21"/>
          <p:cNvSpPr txBox="1"/>
          <p:nvPr/>
        </p:nvSpPr>
        <p:spPr>
          <a:xfrm>
            <a:off x="8366760" y="3611880"/>
            <a:ext cx="3063240" cy="365760"/>
          </a:xfrm>
          <a:prstGeom prst="rect">
            <a:avLst/>
          </a:prstGeom>
          <a:noFill/>
          <a:ln/>
        </p:spPr>
        <p:txBody>
          <a:bodyPr wrap="square" lIns="0" tIns="0" rIns="0" bIns="0" rtlCol="0" anchor="ctr"/>
          <a:lstStyle/>
          <a:p>
            <a:pPr marL="0" indent="0">
              <a:buNone/>
            </a:pPr>
            <a:r>
              <a:rPr lang="en-US" sz="1200" dirty="0">
                <a:solidFill>
                  <a:srgbClr val="0B2E4A"/>
                </a:solidFill>
                <a:latin typeface="Calibri" pitchFamily="34" charset="0"/>
                <a:ea typeface="Calibri" pitchFamily="34" charset="-122"/>
                <a:cs typeface="Calibri" pitchFamily="34" charset="-120"/>
              </a:rPr>
              <a:t>mmsi + date</a:t>
            </a:r>
            <a:endParaRPr lang="en-US" sz="1200" dirty="0"/>
          </a:p>
        </p:txBody>
      </p:sp>
      <p:sp>
        <p:nvSpPr>
          <p:cNvPr id="24" name="Text 22"/>
          <p:cNvSpPr txBox="1"/>
          <p:nvPr/>
        </p:nvSpPr>
        <p:spPr>
          <a:xfrm>
            <a:off x="8366760" y="3977640"/>
            <a:ext cx="3063240" cy="274320"/>
          </a:xfrm>
          <a:prstGeom prst="rect">
            <a:avLst/>
          </a:prstGeom>
          <a:noFill/>
          <a:ln/>
        </p:spPr>
        <p:txBody>
          <a:bodyPr wrap="square" lIns="0" tIns="0" rIns="0" bIns="0" rtlCol="0" anchor="ctr"/>
          <a:lstStyle/>
          <a:p>
            <a:pPr marL="0" indent="0">
              <a:buNone/>
            </a:pPr>
            <a:r>
              <a:rPr lang="en-US" sz="1000" b="1" kern="0" spc="100" dirty="0">
                <a:solidFill>
                  <a:srgbClr val="0B2E4A"/>
                </a:solidFill>
                <a:latin typeface="Calibri" pitchFamily="34" charset="0"/>
                <a:ea typeface="Calibri" pitchFamily="34" charset="-122"/>
                <a:cs typeface="Calibri" pitchFamily="34" charset="-120"/>
              </a:rPr>
              <a:t>HIGHLIGHT COLUMN</a:t>
            </a:r>
            <a:endParaRPr lang="en-US" sz="1000" dirty="0"/>
          </a:p>
        </p:txBody>
      </p:sp>
      <p:sp>
        <p:nvSpPr>
          <p:cNvPr id="25" name="Text 23"/>
          <p:cNvSpPr txBox="1"/>
          <p:nvPr/>
        </p:nvSpPr>
        <p:spPr>
          <a:xfrm>
            <a:off x="8366760" y="4233672"/>
            <a:ext cx="3063240" cy="411480"/>
          </a:xfrm>
          <a:prstGeom prst="rect">
            <a:avLst/>
          </a:prstGeom>
          <a:noFill/>
          <a:ln/>
        </p:spPr>
        <p:txBody>
          <a:bodyPr wrap="square" lIns="0" tIns="0" rIns="0" bIns="0" rtlCol="0" anchor="ctr"/>
          <a:lstStyle/>
          <a:p>
            <a:pPr marL="0" indent="0">
              <a:lnSpc>
                <a:spcPct val="110000"/>
              </a:lnSpc>
              <a:buNone/>
            </a:pPr>
            <a:r>
              <a:rPr lang="en-US" sz="1100" dirty="0">
                <a:solidFill>
                  <a:srgbClr val="0B2E4A"/>
                </a:solidFill>
                <a:latin typeface="Calibri" pitchFamily="34" charset="0"/>
                <a:ea typeface="Calibri" pitchFamily="34" charset="-122"/>
                <a:cs typeface="Calibri" pitchFamily="34" charset="-120"/>
              </a:rPr>
              <a:t>anomaly_score — how unusual the ship's behavior is</a:t>
            </a:r>
            <a:endParaRPr lang="en-US" sz="1100" dirty="0"/>
          </a:p>
        </p:txBody>
      </p:sp>
      <p:sp>
        <p:nvSpPr>
          <p:cNvPr id="26" name="Shape 24"/>
          <p:cNvSpPr/>
          <p:nvPr/>
        </p:nvSpPr>
        <p:spPr>
          <a:xfrm>
            <a:off x="548640" y="4937760"/>
            <a:ext cx="11064240" cy="777240"/>
          </a:xfrm>
          <a:prstGeom prst="roundRect">
            <a:avLst>
              <a:gd name="adj" fmla="val 9412"/>
            </a:avLst>
          </a:prstGeom>
          <a:solidFill>
            <a:srgbClr val="FFFFFF"/>
          </a:solidFill>
          <a:ln w="12700">
            <a:solidFill>
              <a:srgbClr val="D7E4EA"/>
            </a:solidFill>
            <a:prstDash val="solid"/>
          </a:ln>
        </p:spPr>
        <p:txBody>
          <a:bodyPr/>
          <a:lstStyle/>
          <a:p>
            <a:endParaRPr lang="en-US"/>
          </a:p>
        </p:txBody>
      </p:sp>
      <p:sp>
        <p:nvSpPr>
          <p:cNvPr id="27" name="Text 25"/>
          <p:cNvSpPr txBox="1"/>
          <p:nvPr/>
        </p:nvSpPr>
        <p:spPr>
          <a:xfrm>
            <a:off x="822960" y="4937760"/>
            <a:ext cx="10515600" cy="777240"/>
          </a:xfrm>
          <a:prstGeom prst="rect">
            <a:avLst/>
          </a:prstGeom>
          <a:noFill/>
          <a:ln/>
        </p:spPr>
        <p:txBody>
          <a:bodyPr wrap="square" lIns="0" tIns="0" rIns="0" bIns="0" rtlCol="0" anchor="ctr"/>
          <a:lstStyle/>
          <a:p>
            <a:pPr marL="0" indent="0">
              <a:buNone/>
            </a:pPr>
            <a:r>
              <a:rPr lang="en-US" sz="1250" i="1" dirty="0">
                <a:solidFill>
                  <a:srgbClr val="16232E"/>
                </a:solidFill>
                <a:latin typeface="Calibri" pitchFamily="34" charset="0"/>
                <a:ea typeface="Calibri" pitchFamily="34" charset="-122"/>
                <a:cs typeface="Calibri" pitchFamily="34" charset="-120"/>
              </a:rPr>
              <a:t>+ 11 more supporting tables: vessel registry, status lookups, rejection logs, model version registry, per-zone speed limits, and pipeline run logs.</a:t>
            </a:r>
            <a:endParaRPr lang="en-US" sz="1250" dirty="0"/>
          </a:p>
        </p:txBody>
      </p:sp>
      <p:sp>
        <p:nvSpPr>
          <p:cNvPr id="28" name="Text 26"/>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LAYER 5 · VISUALIZATION</a:t>
            </a:r>
            <a:endParaRPr lang="en-US" sz="1200" dirty="0"/>
          </a:p>
        </p:txBody>
      </p:sp>
      <p:sp>
        <p:nvSpPr>
          <p:cNvPr id="3" name="Text 1"/>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0B2E4A"/>
                </a:solidFill>
                <a:latin typeface="Cambria" pitchFamily="34" charset="0"/>
                <a:ea typeface="Cambria" pitchFamily="34" charset="-122"/>
                <a:cs typeface="Cambria" pitchFamily="34" charset="-120"/>
              </a:rPr>
              <a:t>Two Dashboards, Two Audiences</a:t>
            </a:r>
            <a:endParaRPr lang="en-US" sz="3200" dirty="0"/>
          </a:p>
        </p:txBody>
      </p:sp>
      <p:sp>
        <p:nvSpPr>
          <p:cNvPr id="4" name="Shape 2"/>
          <p:cNvSpPr/>
          <p:nvPr/>
        </p:nvSpPr>
        <p:spPr>
          <a:xfrm>
            <a:off x="548640" y="1600200"/>
            <a:ext cx="5349240" cy="4114800"/>
          </a:xfrm>
          <a:prstGeom prst="roundRect">
            <a:avLst>
              <a:gd name="adj" fmla="val 2222"/>
            </a:avLst>
          </a:prstGeom>
          <a:solidFill>
            <a:srgbClr val="FFFFFF"/>
          </a:solidFill>
          <a:ln w="12700">
            <a:solidFill>
              <a:srgbClr val="D7E4EA"/>
            </a:solidFill>
            <a:prstDash val="solid"/>
          </a:ln>
          <a:effectLst>
            <a:outerShdw blurRad="101600" dist="38100" dir="5400000" algn="bl" rotWithShape="0">
              <a:srgbClr val="1B2733">
                <a:alpha val="12000"/>
              </a:srgbClr>
            </a:outerShdw>
          </a:effectLst>
        </p:spPr>
        <p:txBody>
          <a:bodyPr/>
          <a:lstStyle/>
          <a:p>
            <a:endParaRPr lang="en-US"/>
          </a:p>
        </p:txBody>
      </p:sp>
      <p:sp>
        <p:nvSpPr>
          <p:cNvPr id="5" name="Shape 3"/>
          <p:cNvSpPr/>
          <p:nvPr/>
        </p:nvSpPr>
        <p:spPr>
          <a:xfrm>
            <a:off x="822960" y="1874520"/>
            <a:ext cx="640080" cy="640080"/>
          </a:xfrm>
          <a:prstGeom prst="ellipse">
            <a:avLst/>
          </a:prstGeom>
          <a:solidFill>
            <a:srgbClr val="1C7293"/>
          </a:solidFill>
          <a:ln/>
        </p:spPr>
        <p:txBody>
          <a:bodyPr/>
          <a:lstStyle/>
          <a:p>
            <a:endParaRPr lang="en-US"/>
          </a:p>
        </p:txBody>
      </p:sp>
      <p:sp>
        <p:nvSpPr>
          <p:cNvPr id="6" name="Text 4"/>
          <p:cNvSpPr txBox="1"/>
          <p:nvPr/>
        </p:nvSpPr>
        <p:spPr>
          <a:xfrm>
            <a:off x="822960" y="187452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Z</a:t>
            </a:r>
            <a:endParaRPr lang="en-US" sz="1820" dirty="0"/>
          </a:p>
        </p:txBody>
      </p:sp>
      <p:sp>
        <p:nvSpPr>
          <p:cNvPr id="7" name="Text 5"/>
          <p:cNvSpPr txBox="1"/>
          <p:nvPr/>
        </p:nvSpPr>
        <p:spPr>
          <a:xfrm>
            <a:off x="1645920" y="1874520"/>
            <a:ext cx="4023360" cy="365760"/>
          </a:xfrm>
          <a:prstGeom prst="rect">
            <a:avLst/>
          </a:prstGeom>
          <a:noFill/>
          <a:ln/>
        </p:spPr>
        <p:txBody>
          <a:bodyPr wrap="square" lIns="0" tIns="0" rIns="0" bIns="0" rtlCol="0" anchor="ctr"/>
          <a:lstStyle/>
          <a:p>
            <a:pPr marL="0" indent="0">
              <a:buNone/>
            </a:pPr>
            <a:r>
              <a:rPr lang="en-US" sz="1600" b="1" dirty="0">
                <a:solidFill>
                  <a:srgbClr val="0B2E4A"/>
                </a:solidFill>
                <a:latin typeface="Cambria" pitchFamily="34" charset="0"/>
                <a:ea typeface="Cambria" pitchFamily="34" charset="-122"/>
                <a:cs typeface="Cambria" pitchFamily="34" charset="-120"/>
              </a:rPr>
              <a:t>Apache Zeppelin</a:t>
            </a:r>
            <a:endParaRPr lang="en-US" sz="1600" dirty="0"/>
          </a:p>
        </p:txBody>
      </p:sp>
      <p:sp>
        <p:nvSpPr>
          <p:cNvPr id="8" name="Text 6"/>
          <p:cNvSpPr txBox="1"/>
          <p:nvPr/>
        </p:nvSpPr>
        <p:spPr>
          <a:xfrm>
            <a:off x="1645920" y="2221992"/>
            <a:ext cx="4023360" cy="274320"/>
          </a:xfrm>
          <a:prstGeom prst="rect">
            <a:avLst/>
          </a:prstGeom>
          <a:noFill/>
          <a:ln/>
        </p:spPr>
        <p:txBody>
          <a:bodyPr wrap="square" lIns="0" tIns="0" rIns="0" bIns="0" rtlCol="0" anchor="ctr"/>
          <a:lstStyle/>
          <a:p>
            <a:pPr marL="0" indent="0">
              <a:buNone/>
            </a:pPr>
            <a:r>
              <a:rPr lang="en-US" sz="1100" i="1" dirty="0">
                <a:solidFill>
                  <a:srgbClr val="5A6B78"/>
                </a:solidFill>
                <a:latin typeface="Calibri" pitchFamily="34" charset="0"/>
                <a:ea typeface="Calibri" pitchFamily="34" charset="-122"/>
                <a:cs typeface="Calibri" pitchFamily="34" charset="-120"/>
              </a:rPr>
              <a:t>for engineers</a:t>
            </a:r>
            <a:endParaRPr lang="en-US" sz="1100" dirty="0"/>
          </a:p>
        </p:txBody>
      </p:sp>
      <p:sp>
        <p:nvSpPr>
          <p:cNvPr id="9" name="Text 7"/>
          <p:cNvSpPr txBox="1"/>
          <p:nvPr/>
        </p:nvSpPr>
        <p:spPr>
          <a:xfrm>
            <a:off x="822960" y="2834640"/>
            <a:ext cx="480060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11 charts validating the AI pipeline</a:t>
            </a:r>
            <a:endParaRPr lang="en-US" sz="1250" dirty="0"/>
          </a:p>
        </p:txBody>
      </p:sp>
      <p:sp>
        <p:nvSpPr>
          <p:cNvPr id="10" name="Text 8"/>
          <p:cNvSpPr txBox="1"/>
          <p:nvPr/>
        </p:nvSpPr>
        <p:spPr>
          <a:xfrm>
            <a:off x="822960" y="3291840"/>
            <a:ext cx="480060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Elbow plot to justify cluster count</a:t>
            </a:r>
            <a:endParaRPr lang="en-US" sz="1250" dirty="0"/>
          </a:p>
        </p:txBody>
      </p:sp>
      <p:sp>
        <p:nvSpPr>
          <p:cNvPr id="11" name="Text 9"/>
          <p:cNvSpPr txBox="1"/>
          <p:nvPr/>
        </p:nvSpPr>
        <p:spPr>
          <a:xfrm>
            <a:off x="822960" y="3749040"/>
            <a:ext cx="480060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Anomaly score distribution</a:t>
            </a:r>
            <a:endParaRPr lang="en-US" sz="1250" dirty="0"/>
          </a:p>
        </p:txBody>
      </p:sp>
      <p:sp>
        <p:nvSpPr>
          <p:cNvPr id="12" name="Text 10"/>
          <p:cNvSpPr txBox="1"/>
          <p:nvPr/>
        </p:nvSpPr>
        <p:spPr>
          <a:xfrm>
            <a:off x="822960" y="4206240"/>
            <a:ext cx="4800600" cy="411480"/>
          </a:xfrm>
          <a:prstGeom prst="rect">
            <a:avLst/>
          </a:prstGeom>
          <a:noFill/>
          <a:ln/>
        </p:spPr>
        <p:txBody>
          <a:bodyPr wrap="square" lIns="0" tIns="0" rIns="0" bIns="0" rtlCol="0" anchor="ctr"/>
          <a:lstStyle/>
          <a:p>
            <a:pPr marL="0" indent="0">
              <a:buNone/>
            </a:pPr>
            <a:r>
              <a:rPr lang="en-US" sz="1250" dirty="0">
                <a:solidFill>
                  <a:srgbClr val="16232E"/>
                </a:solidFill>
                <a:latin typeface="Calibri" pitchFamily="34" charset="0"/>
                <a:ea typeface="Calibri" pitchFamily="34" charset="-122"/>
                <a:cs typeface="Calibri" pitchFamily="34" charset="-120"/>
              </a:rPr>
              <a:t>•  Runs code directly on the Spark cluster</a:t>
            </a:r>
            <a:endParaRPr lang="en-US" sz="1250" dirty="0"/>
          </a:p>
        </p:txBody>
      </p:sp>
      <p:sp>
        <p:nvSpPr>
          <p:cNvPr id="13" name="Shape 11"/>
          <p:cNvSpPr/>
          <p:nvPr/>
        </p:nvSpPr>
        <p:spPr>
          <a:xfrm>
            <a:off x="6126480" y="1600200"/>
            <a:ext cx="5349240" cy="4114800"/>
          </a:xfrm>
          <a:prstGeom prst="roundRect">
            <a:avLst>
              <a:gd name="adj" fmla="val 2222"/>
            </a:avLst>
          </a:prstGeom>
          <a:solidFill>
            <a:srgbClr val="065A82"/>
          </a:solidFill>
          <a:ln/>
        </p:spPr>
        <p:txBody>
          <a:bodyPr/>
          <a:lstStyle/>
          <a:p>
            <a:endParaRPr lang="en-US"/>
          </a:p>
        </p:txBody>
      </p:sp>
      <p:sp>
        <p:nvSpPr>
          <p:cNvPr id="14" name="Shape 12"/>
          <p:cNvSpPr/>
          <p:nvPr/>
        </p:nvSpPr>
        <p:spPr>
          <a:xfrm>
            <a:off x="6400800" y="1874520"/>
            <a:ext cx="640080" cy="640080"/>
          </a:xfrm>
          <a:prstGeom prst="ellipse">
            <a:avLst/>
          </a:prstGeom>
          <a:solidFill>
            <a:srgbClr val="F2A93B"/>
          </a:solidFill>
          <a:ln/>
        </p:spPr>
        <p:txBody>
          <a:bodyPr/>
          <a:lstStyle/>
          <a:p>
            <a:endParaRPr lang="en-US"/>
          </a:p>
        </p:txBody>
      </p:sp>
      <p:sp>
        <p:nvSpPr>
          <p:cNvPr id="15" name="Text 13"/>
          <p:cNvSpPr txBox="1"/>
          <p:nvPr/>
        </p:nvSpPr>
        <p:spPr>
          <a:xfrm>
            <a:off x="6400800" y="1874520"/>
            <a:ext cx="640080" cy="640080"/>
          </a:xfrm>
          <a:prstGeom prst="rect">
            <a:avLst/>
          </a:prstGeom>
          <a:noFill/>
          <a:ln/>
        </p:spPr>
        <p:txBody>
          <a:bodyPr wrap="square" lIns="0" tIns="0" rIns="0" bIns="0" rtlCol="0" anchor="ctr"/>
          <a:lstStyle/>
          <a:p>
            <a:pPr marL="0" indent="0" algn="ctr">
              <a:buNone/>
            </a:pPr>
            <a:r>
              <a:rPr lang="en-US" sz="1820" b="1" dirty="0">
                <a:solidFill>
                  <a:srgbClr val="0B2E4A"/>
                </a:solidFill>
                <a:latin typeface="Calibri" pitchFamily="34" charset="0"/>
                <a:ea typeface="Calibri" pitchFamily="34" charset="-122"/>
                <a:cs typeface="Calibri" pitchFamily="34" charset="-120"/>
              </a:rPr>
              <a:t>S</a:t>
            </a:r>
            <a:endParaRPr lang="en-US" sz="1820" dirty="0"/>
          </a:p>
        </p:txBody>
      </p:sp>
      <p:sp>
        <p:nvSpPr>
          <p:cNvPr id="16" name="Text 14"/>
          <p:cNvSpPr txBox="1"/>
          <p:nvPr/>
        </p:nvSpPr>
        <p:spPr>
          <a:xfrm>
            <a:off x="7223760" y="1874520"/>
            <a:ext cx="40233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Apache Superset</a:t>
            </a:r>
            <a:endParaRPr lang="en-US" sz="1600" dirty="0"/>
          </a:p>
        </p:txBody>
      </p:sp>
      <p:sp>
        <p:nvSpPr>
          <p:cNvPr id="17" name="Text 15"/>
          <p:cNvSpPr txBox="1"/>
          <p:nvPr/>
        </p:nvSpPr>
        <p:spPr>
          <a:xfrm>
            <a:off x="7223760" y="2221992"/>
            <a:ext cx="4023360" cy="274320"/>
          </a:xfrm>
          <a:prstGeom prst="rect">
            <a:avLst/>
          </a:prstGeom>
          <a:noFill/>
          <a:ln/>
        </p:spPr>
        <p:txBody>
          <a:bodyPr wrap="square" lIns="0" tIns="0" rIns="0" bIns="0" rtlCol="0" anchor="ctr"/>
          <a:lstStyle/>
          <a:p>
            <a:pPr marL="0" indent="0">
              <a:buNone/>
            </a:pPr>
            <a:r>
              <a:rPr lang="en-US" sz="1100" i="1" dirty="0">
                <a:solidFill>
                  <a:srgbClr val="CFE8F0"/>
                </a:solidFill>
                <a:latin typeface="Calibri" pitchFamily="34" charset="0"/>
                <a:ea typeface="Calibri" pitchFamily="34" charset="-122"/>
                <a:cs typeface="Calibri" pitchFamily="34" charset="-120"/>
              </a:rPr>
              <a:t>for operators &amp; the jury</a:t>
            </a:r>
            <a:endParaRPr lang="en-US" sz="1100" dirty="0"/>
          </a:p>
        </p:txBody>
      </p:sp>
      <p:sp>
        <p:nvSpPr>
          <p:cNvPr id="18" name="Text 16"/>
          <p:cNvSpPr txBox="1"/>
          <p:nvPr/>
        </p:nvSpPr>
        <p:spPr>
          <a:xfrm>
            <a:off x="6400800" y="2834640"/>
            <a:ext cx="480060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Live map of the fleet, colored by status</a:t>
            </a:r>
            <a:endParaRPr lang="en-US" sz="1250" dirty="0"/>
          </a:p>
        </p:txBody>
      </p:sp>
      <p:sp>
        <p:nvSpPr>
          <p:cNvPr id="19" name="Text 17"/>
          <p:cNvSpPr txBox="1"/>
          <p:nvPr/>
        </p:nvSpPr>
        <p:spPr>
          <a:xfrm>
            <a:off x="6400800" y="3291840"/>
            <a:ext cx="480060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Speed heatmaps over busy corridors</a:t>
            </a:r>
            <a:endParaRPr lang="en-US" sz="1250" dirty="0"/>
          </a:p>
        </p:txBody>
      </p:sp>
      <p:sp>
        <p:nvSpPr>
          <p:cNvPr id="20" name="Text 18"/>
          <p:cNvSpPr txBox="1"/>
          <p:nvPr/>
        </p:nvSpPr>
        <p:spPr>
          <a:xfrm>
            <a:off x="6400800" y="3749040"/>
            <a:ext cx="480060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Port congestion trend charts</a:t>
            </a:r>
            <a:endParaRPr lang="en-US" sz="1250" dirty="0"/>
          </a:p>
        </p:txBody>
      </p:sp>
      <p:sp>
        <p:nvSpPr>
          <p:cNvPr id="21" name="Text 19"/>
          <p:cNvSpPr txBox="1"/>
          <p:nvPr/>
        </p:nvSpPr>
        <p:spPr>
          <a:xfrm>
            <a:off x="6400800" y="4206240"/>
            <a:ext cx="4800600" cy="411480"/>
          </a:xfrm>
          <a:prstGeom prst="rect">
            <a:avLst/>
          </a:prstGeom>
          <a:noFill/>
          <a:ln/>
        </p:spPr>
        <p:txBody>
          <a:bodyPr wrap="square" lIns="0" tIns="0" rIns="0" bIns="0" rtlCol="0" anchor="ctr"/>
          <a:lstStyle/>
          <a:p>
            <a:pPr marL="0" indent="0">
              <a:buNone/>
            </a:pPr>
            <a:r>
              <a:rPr lang="en-US" sz="1250" dirty="0">
                <a:solidFill>
                  <a:srgbClr val="CFE8F0"/>
                </a:solidFill>
                <a:latin typeface="Calibri" pitchFamily="34" charset="0"/>
                <a:ea typeface="Calibri" pitchFamily="34" charset="-122"/>
                <a:cs typeface="Calibri" pitchFamily="34" charset="-120"/>
              </a:rPr>
              <a:t>•  Big-number panels: active ships, alerts/hr</a:t>
            </a:r>
            <a:endParaRPr lang="en-US" sz="1250" dirty="0"/>
          </a:p>
        </p:txBody>
      </p:sp>
      <p:sp>
        <p:nvSpPr>
          <p:cNvPr id="22" name="Text 20"/>
          <p:cNvSpPr txBox="1"/>
          <p:nvPr/>
        </p:nvSpPr>
        <p:spPr>
          <a:xfrm>
            <a:off x="548640" y="5897880"/>
            <a:ext cx="11064240" cy="50292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Why two tools? Engineers need to validate the model; stakeholders need a live, no-code view. One tool would force a compromise neither side needs.</a:t>
            </a:r>
            <a:endParaRPr lang="en-US" sz="1200" dirty="0"/>
          </a:p>
        </p:txBody>
      </p:sp>
      <p:sp>
        <p:nvSpPr>
          <p:cNvPr id="23" name="Text 21"/>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9AA7A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4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065A82">
              <a:alpha val="45000"/>
            </a:srgbClr>
          </a:solidFill>
          <a:ln/>
        </p:spPr>
        <p:txBody>
          <a:bodyPr/>
          <a:lstStyle/>
          <a:p>
            <a:endParaRPr lang="en-US"/>
          </a:p>
        </p:txBody>
      </p:sp>
      <p:sp>
        <p:nvSpPr>
          <p:cNvPr id="3" name="Text 1"/>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WRAP-UP</a:t>
            </a:r>
            <a:endParaRPr lang="en-US" sz="1200" dirty="0"/>
          </a:p>
        </p:txBody>
      </p:sp>
      <p:sp>
        <p:nvSpPr>
          <p:cNvPr id="4" name="Text 2"/>
          <p:cNvSpPr txBox="1"/>
          <p:nvPr/>
        </p:nvSpPr>
        <p:spPr>
          <a:xfrm>
            <a:off x="548640" y="713232"/>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We Delivered — and Where It Goes Next</a:t>
            </a:r>
            <a:endParaRPr lang="en-US" sz="3200" dirty="0"/>
          </a:p>
        </p:txBody>
      </p:sp>
      <p:sp>
        <p:nvSpPr>
          <p:cNvPr id="5" name="Text 3"/>
          <p:cNvSpPr txBox="1"/>
          <p:nvPr/>
        </p:nvSpPr>
        <p:spPr>
          <a:xfrm>
            <a:off x="548640" y="1737360"/>
            <a:ext cx="5120640" cy="320040"/>
          </a:xfrm>
          <a:prstGeom prst="rect">
            <a:avLst/>
          </a:prstGeom>
          <a:noFill/>
          <a:ln/>
        </p:spPr>
        <p:txBody>
          <a:bodyPr wrap="square" lIns="0" tIns="0" rIns="0" bIns="0"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DELIVERED</a:t>
            </a:r>
            <a:endParaRPr lang="en-US" sz="1200" dirty="0"/>
          </a:p>
        </p:txBody>
      </p:sp>
      <p:sp>
        <p:nvSpPr>
          <p:cNvPr id="6" name="Text 4"/>
          <p:cNvSpPr txBox="1"/>
          <p:nvPr/>
        </p:nvSpPr>
        <p:spPr>
          <a:xfrm>
            <a:off x="548640" y="2148840"/>
            <a:ext cx="512064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Live fleet tracking, sub-second</a:t>
            </a:r>
            <a:endParaRPr lang="en-US" sz="1400" dirty="0"/>
          </a:p>
        </p:txBody>
      </p:sp>
      <p:sp>
        <p:nvSpPr>
          <p:cNvPr id="7" name="Text 5"/>
          <p:cNvSpPr txBox="1"/>
          <p:nvPr/>
        </p:nvSpPr>
        <p:spPr>
          <a:xfrm>
            <a:off x="548640" y="2651760"/>
            <a:ext cx="512064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Automatic port dwell-time calculation</a:t>
            </a:r>
            <a:endParaRPr lang="en-US" sz="1400" dirty="0"/>
          </a:p>
        </p:txBody>
      </p:sp>
      <p:sp>
        <p:nvSpPr>
          <p:cNvPr id="8" name="Text 6"/>
          <p:cNvSpPr txBox="1"/>
          <p:nvPr/>
        </p:nvSpPr>
        <p:spPr>
          <a:xfrm>
            <a:off x="548640" y="3154680"/>
            <a:ext cx="512064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Real-time speeding alerts</a:t>
            </a:r>
            <a:endParaRPr lang="en-US" sz="1400" dirty="0"/>
          </a:p>
        </p:txBody>
      </p:sp>
      <p:sp>
        <p:nvSpPr>
          <p:cNvPr id="9" name="Text 7"/>
          <p:cNvSpPr txBox="1"/>
          <p:nvPr/>
        </p:nvSpPr>
        <p:spPr>
          <a:xfrm>
            <a:off x="548640" y="3657600"/>
            <a:ext cx="512064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AI-driven behavior clustering</a:t>
            </a:r>
            <a:endParaRPr lang="en-US" sz="1400" dirty="0"/>
          </a:p>
        </p:txBody>
      </p:sp>
      <p:sp>
        <p:nvSpPr>
          <p:cNvPr id="10" name="Text 8"/>
          <p:cNvSpPr txBox="1"/>
          <p:nvPr/>
        </p:nvSpPr>
        <p:spPr>
          <a:xfrm>
            <a:off x="6309360" y="1737360"/>
            <a:ext cx="5303520" cy="320040"/>
          </a:xfrm>
          <a:prstGeom prst="rect">
            <a:avLst/>
          </a:prstGeom>
          <a:noFill/>
          <a:ln/>
        </p:spPr>
        <p:txBody>
          <a:bodyPr wrap="square" lIns="0" tIns="0" rIns="0" bIns="0"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SCALING PATH</a:t>
            </a:r>
            <a:endParaRPr lang="en-US" sz="1200" dirty="0"/>
          </a:p>
        </p:txBody>
      </p:sp>
      <p:sp>
        <p:nvSpPr>
          <p:cNvPr id="11" name="Shape 9"/>
          <p:cNvSpPr/>
          <p:nvPr/>
        </p:nvSpPr>
        <p:spPr>
          <a:xfrm>
            <a:off x="6309360" y="2148840"/>
            <a:ext cx="1371600" cy="384048"/>
          </a:xfrm>
          <a:prstGeom prst="roundRect">
            <a:avLst>
              <a:gd name="adj" fmla="val 14286"/>
            </a:avLst>
          </a:prstGeom>
          <a:solidFill>
            <a:srgbClr val="1C7293"/>
          </a:solidFill>
          <a:ln/>
        </p:spPr>
        <p:txBody>
          <a:bodyPr/>
          <a:lstStyle/>
          <a:p>
            <a:endParaRPr lang="en-US"/>
          </a:p>
        </p:txBody>
      </p:sp>
      <p:sp>
        <p:nvSpPr>
          <p:cNvPr id="12" name="Text 10"/>
          <p:cNvSpPr txBox="1"/>
          <p:nvPr/>
        </p:nvSpPr>
        <p:spPr>
          <a:xfrm>
            <a:off x="6309360" y="2148840"/>
            <a:ext cx="13716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13" name="Text 11"/>
          <p:cNvSpPr txBox="1"/>
          <p:nvPr/>
        </p:nvSpPr>
        <p:spPr>
          <a:xfrm>
            <a:off x="7818120" y="2148840"/>
            <a:ext cx="3794760" cy="384048"/>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add partitions &amp; brokers</a:t>
            </a:r>
            <a:endParaRPr lang="en-US" sz="1200" dirty="0"/>
          </a:p>
        </p:txBody>
      </p:sp>
      <p:sp>
        <p:nvSpPr>
          <p:cNvPr id="14" name="Shape 12"/>
          <p:cNvSpPr/>
          <p:nvPr/>
        </p:nvSpPr>
        <p:spPr>
          <a:xfrm>
            <a:off x="6309360" y="2651760"/>
            <a:ext cx="1371600" cy="384048"/>
          </a:xfrm>
          <a:prstGeom prst="roundRect">
            <a:avLst>
              <a:gd name="adj" fmla="val 14286"/>
            </a:avLst>
          </a:prstGeom>
          <a:solidFill>
            <a:srgbClr val="1C7293"/>
          </a:solidFill>
          <a:ln/>
        </p:spPr>
        <p:txBody>
          <a:bodyPr/>
          <a:lstStyle/>
          <a:p>
            <a:endParaRPr lang="en-US"/>
          </a:p>
        </p:txBody>
      </p:sp>
      <p:sp>
        <p:nvSpPr>
          <p:cNvPr id="15" name="Text 13"/>
          <p:cNvSpPr txBox="1"/>
          <p:nvPr/>
        </p:nvSpPr>
        <p:spPr>
          <a:xfrm>
            <a:off x="6309360" y="2651760"/>
            <a:ext cx="13716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Spark</a:t>
            </a:r>
            <a:endParaRPr lang="en-US" sz="1150" dirty="0"/>
          </a:p>
        </p:txBody>
      </p:sp>
      <p:sp>
        <p:nvSpPr>
          <p:cNvPr id="16" name="Text 14"/>
          <p:cNvSpPr txBox="1"/>
          <p:nvPr/>
        </p:nvSpPr>
        <p:spPr>
          <a:xfrm>
            <a:off x="7818120" y="2651760"/>
            <a:ext cx="3794760" cy="384048"/>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add executors (scales linearly)</a:t>
            </a:r>
            <a:endParaRPr lang="en-US" sz="1200" dirty="0"/>
          </a:p>
        </p:txBody>
      </p:sp>
      <p:sp>
        <p:nvSpPr>
          <p:cNvPr id="17" name="Shape 15"/>
          <p:cNvSpPr/>
          <p:nvPr/>
        </p:nvSpPr>
        <p:spPr>
          <a:xfrm>
            <a:off x="6309360" y="3154680"/>
            <a:ext cx="1371600" cy="384048"/>
          </a:xfrm>
          <a:prstGeom prst="roundRect">
            <a:avLst>
              <a:gd name="adj" fmla="val 14286"/>
            </a:avLst>
          </a:prstGeom>
          <a:solidFill>
            <a:srgbClr val="1C7293"/>
          </a:solidFill>
          <a:ln/>
        </p:spPr>
        <p:txBody>
          <a:bodyPr/>
          <a:lstStyle/>
          <a:p>
            <a:endParaRPr lang="en-US"/>
          </a:p>
        </p:txBody>
      </p:sp>
      <p:sp>
        <p:nvSpPr>
          <p:cNvPr id="18" name="Text 16"/>
          <p:cNvSpPr txBox="1"/>
          <p:nvPr/>
        </p:nvSpPr>
        <p:spPr>
          <a:xfrm>
            <a:off x="6309360" y="3154680"/>
            <a:ext cx="13716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HDFS</a:t>
            </a:r>
            <a:endParaRPr lang="en-US" sz="1150" dirty="0"/>
          </a:p>
        </p:txBody>
      </p:sp>
      <p:sp>
        <p:nvSpPr>
          <p:cNvPr id="19" name="Text 17"/>
          <p:cNvSpPr txBox="1"/>
          <p:nvPr/>
        </p:nvSpPr>
        <p:spPr>
          <a:xfrm>
            <a:off x="7818120" y="3154680"/>
            <a:ext cx="3794760" cy="384048"/>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add DataNodes</a:t>
            </a:r>
            <a:endParaRPr lang="en-US" sz="1200" dirty="0"/>
          </a:p>
        </p:txBody>
      </p:sp>
      <p:sp>
        <p:nvSpPr>
          <p:cNvPr id="20" name="Shape 18"/>
          <p:cNvSpPr/>
          <p:nvPr/>
        </p:nvSpPr>
        <p:spPr>
          <a:xfrm>
            <a:off x="6309360" y="3657600"/>
            <a:ext cx="1371600" cy="384048"/>
          </a:xfrm>
          <a:prstGeom prst="roundRect">
            <a:avLst>
              <a:gd name="adj" fmla="val 14286"/>
            </a:avLst>
          </a:prstGeom>
          <a:solidFill>
            <a:srgbClr val="1C7293"/>
          </a:solidFill>
          <a:ln/>
        </p:spPr>
        <p:txBody>
          <a:bodyPr/>
          <a:lstStyle/>
          <a:p>
            <a:endParaRPr lang="en-US"/>
          </a:p>
        </p:txBody>
      </p:sp>
      <p:sp>
        <p:nvSpPr>
          <p:cNvPr id="21" name="Text 19"/>
          <p:cNvSpPr txBox="1"/>
          <p:nvPr/>
        </p:nvSpPr>
        <p:spPr>
          <a:xfrm>
            <a:off x="6309360" y="3657600"/>
            <a:ext cx="13716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PostGIS</a:t>
            </a:r>
            <a:endParaRPr lang="en-US" sz="1150" dirty="0"/>
          </a:p>
        </p:txBody>
      </p:sp>
      <p:sp>
        <p:nvSpPr>
          <p:cNvPr id="22" name="Text 20"/>
          <p:cNvSpPr txBox="1"/>
          <p:nvPr/>
        </p:nvSpPr>
        <p:spPr>
          <a:xfrm>
            <a:off x="7818120" y="3657600"/>
            <a:ext cx="3794760" cy="384048"/>
          </a:xfrm>
          <a:prstGeom prst="rect">
            <a:avLst/>
          </a:prstGeom>
          <a:noFill/>
          <a:ln/>
        </p:spPr>
        <p:txBody>
          <a:bodyPr wrap="square" lIns="0" tIns="0" rIns="0" bIns="0" rtlCol="0" anchor="ctr"/>
          <a:lstStyle/>
          <a:p>
            <a:pPr marL="0" indent="0">
              <a:buNone/>
            </a:pPr>
            <a:r>
              <a:rPr lang="en-US" sz="1200" dirty="0">
                <a:solidFill>
                  <a:srgbClr val="CFE8F0"/>
                </a:solidFill>
                <a:latin typeface="Calibri" pitchFamily="34" charset="0"/>
                <a:ea typeface="Calibri" pitchFamily="34" charset="-122"/>
                <a:cs typeface="Calibri" pitchFamily="34" charset="-120"/>
              </a:rPr>
              <a:t>partition tables / move to Citus</a:t>
            </a:r>
            <a:endParaRPr lang="en-US" sz="1200" dirty="0"/>
          </a:p>
        </p:txBody>
      </p:sp>
      <p:sp>
        <p:nvSpPr>
          <p:cNvPr id="23" name="Shape 21"/>
          <p:cNvSpPr/>
          <p:nvPr/>
        </p:nvSpPr>
        <p:spPr>
          <a:xfrm>
            <a:off x="548640" y="4709160"/>
            <a:ext cx="11064240" cy="0"/>
          </a:xfrm>
          <a:prstGeom prst="line">
            <a:avLst/>
          </a:prstGeom>
          <a:noFill/>
          <a:ln w="9525">
            <a:solidFill>
              <a:srgbClr val="FFFFFF">
                <a:alpha val="30000"/>
              </a:srgbClr>
            </a:solidFill>
            <a:prstDash val="solid"/>
          </a:ln>
        </p:spPr>
        <p:txBody>
          <a:bodyPr/>
          <a:lstStyle/>
          <a:p>
            <a:endParaRPr lang="en-US"/>
          </a:p>
        </p:txBody>
      </p:sp>
      <p:sp>
        <p:nvSpPr>
          <p:cNvPr id="24" name="Text 22"/>
          <p:cNvSpPr txBox="1"/>
          <p:nvPr/>
        </p:nvSpPr>
        <p:spPr>
          <a:xfrm>
            <a:off x="548640" y="5029200"/>
            <a:ext cx="1106424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Questions?</a:t>
            </a:r>
            <a:endParaRPr lang="en-US" sz="3600" dirty="0"/>
          </a:p>
        </p:txBody>
      </p:sp>
      <p:sp>
        <p:nvSpPr>
          <p:cNvPr id="25" name="Text 23"/>
          <p:cNvSpPr txBox="1"/>
          <p:nvPr/>
        </p:nvSpPr>
        <p:spPr>
          <a:xfrm>
            <a:off x="548640" y="5897880"/>
            <a:ext cx="11064240" cy="457200"/>
          </a:xfrm>
          <a:prstGeom prst="rect">
            <a:avLst/>
          </a:prstGeom>
          <a:noFill/>
          <a:ln/>
        </p:spPr>
        <p:txBody>
          <a:bodyPr wrap="square" lIns="0" tIns="0" rIns="0" bIns="0" rtlCol="0" anchor="ctr"/>
          <a:lstStyle/>
          <a:p>
            <a:pPr marL="0" indent="0" algn="ctr">
              <a:buNone/>
            </a:pPr>
            <a:r>
              <a:rPr lang="en-US" sz="1300" dirty="0">
                <a:solidFill>
                  <a:srgbClr val="CFE8F0"/>
                </a:solidFill>
                <a:latin typeface="Calibri" pitchFamily="34" charset="0"/>
                <a:ea typeface="Calibri" pitchFamily="34" charset="-122"/>
                <a:cs typeface="Calibri" pitchFamily="34" charset="-120"/>
              </a:rPr>
              <a:t>Thank you for your time and attention.</a:t>
            </a:r>
            <a:endParaRPr lang="en-US" sz="1300" dirty="0"/>
          </a:p>
        </p:txBody>
      </p:sp>
      <p:sp>
        <p:nvSpPr>
          <p:cNvPr id="26" name="Text 24"/>
          <p:cNvSpPr txBox="1"/>
          <p:nvPr/>
        </p:nvSpPr>
        <p:spPr>
          <a:xfrm>
            <a:off x="11548872" y="6446520"/>
            <a:ext cx="457200" cy="274320"/>
          </a:xfrm>
          <a:prstGeom prst="rect">
            <a:avLst/>
          </a:prstGeom>
          <a:noFill/>
          <a:ln/>
        </p:spPr>
        <p:txBody>
          <a:bodyPr wrap="square" lIns="0" tIns="0" rIns="0" bIns="0" rtlCol="0" anchor="ctr"/>
          <a:lstStyle/>
          <a:p>
            <a:pPr marL="0" indent="0" algn="r">
              <a:buNone/>
            </a:pPr>
            <a:r>
              <a:rPr lang="en-US" sz="1000" dirty="0">
                <a:solidFill>
                  <a:srgbClr val="8FAA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TotalTime>
  <Words>1427</Words>
  <Application>Microsoft Office PowerPoint</Application>
  <PresentationFormat>Widescreen</PresentationFormat>
  <Paragraphs>254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مصطفى مرتضى محمد الامام</cp:lastModifiedBy>
  <cp:revision>15</cp:revision>
  <dcterms:created xsi:type="dcterms:W3CDTF">2026-09-09T22:31:00Z</dcterms:created>
  <dcterms:modified xsi:type="dcterms:W3CDTF">2026-10-07T01:20:41Z</dcterms:modified>
</cp:coreProperties>
</file>